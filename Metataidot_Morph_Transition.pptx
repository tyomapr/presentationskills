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84C1E-560F-2E33-A3B1-94D615CC9F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018E79-DCD9-4B21-FA93-C57B820DA8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5C2D5-09F3-3218-9DFC-A7E1708BE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EE14B-146E-40BD-8446-8E545083D3D9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DF011-BBFB-CC18-9977-86CBCF199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BB361-6912-F959-F4ED-AE70C19D2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82D84-2751-4B4D-A113-F058AD45D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935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48C19-9708-635E-F28A-80E901D26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0F375-B8DC-1869-E8E0-D7EAF7253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6DB951-4BE9-D315-8CBB-B1F2BBA71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EE14B-146E-40BD-8446-8E545083D3D9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5C14C-B5A2-7B6E-C74E-117D4617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7F3F2B-ABEA-74E2-B777-50DD953B0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82D84-2751-4B4D-A113-F058AD45D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788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4BDB4-A307-E5E1-3AA0-3CA8902FF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B5BAFE-9A7D-FF93-6FB8-D02EC2D33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1D8F6-CA69-8B6D-9859-A2DE1CF5D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EE14B-146E-40BD-8446-8E545083D3D9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30DD4-92AC-6B23-BE09-89282FA3B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E9AEF0-3F8D-D8D1-9605-5A680812D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82D84-2751-4B4D-A113-F058AD45D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835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00430-A95B-BEB3-08E6-DC54F6AD2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94159-7EDC-FDE3-D8EC-EBCA234A3F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BD6CB3-D86A-40AE-5EAC-764A1060BA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2A70D9-F211-0CC5-384D-FB651148B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EE14B-146E-40BD-8446-8E545083D3D9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18C50E-AA67-AFA2-295E-1DCE89EC2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182E7C-1A5F-1B4E-AC1B-6EDCB0CA0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82D84-2751-4B4D-A113-F058AD45D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495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4B11E-1965-3D23-511D-BD79A2AEA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45B30D-06B7-31C3-9EAB-D546E1E50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CE745F-82B2-325C-4C57-BD52FF07CE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D36266-954D-7C16-C657-602DFAF067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EF7476-FCC1-E172-BA72-23F039C87E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DCC63C-A004-B7E2-E66E-A0C4CCA19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EE14B-146E-40BD-8446-8E545083D3D9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9688EE-4AEB-EE1B-EEA2-9DF2699A8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909537-AA81-6925-9815-1EC6B68C5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82D84-2751-4B4D-A113-F058AD45D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258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FE2A6-047D-AE52-46B7-0EC12B71A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4EE52E-FDA8-B5D8-C42F-8E6192C38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EE14B-146E-40BD-8446-8E545083D3D9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0BE308-8765-F465-E223-AEAD57F15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5A2018-F95F-9490-9C8F-4F2E680E4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82D84-2751-4B4D-A113-F058AD45D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186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7BBCF0-FD7A-4DB5-1521-5F9FF6E3B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EE14B-146E-40BD-8446-8E545083D3D9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5A204D-6A73-AB3E-0D58-F5C7D4C6E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443C1B-6935-B707-4DBA-6D16FD003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82D84-2751-4B4D-A113-F058AD45D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518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FA78B-A6A8-2AA1-8431-64E320D6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00CAA-AD6D-D9B7-6067-53A08D11A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6B5065-33D6-1356-0F9E-822E48681B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2A4E57-DCDA-9D55-4E04-7BE723DB1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EE14B-146E-40BD-8446-8E545083D3D9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567DE9-A2E5-B06A-463A-EB91ABAD5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84EE1A-FD7D-A063-919D-12589080D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82D84-2751-4B4D-A113-F058AD45D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643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8C795-D528-B88A-AE1F-208D8202B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DD9BD1-20B7-1163-7541-3C99FD6588A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F2BFEE-9B0B-2837-5B98-C5D9A5090F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2E5223-BF6C-59E3-169B-5A52A79D2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EE14B-146E-40BD-8446-8E545083D3D9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44B648-37C6-059E-58D5-D47F24F72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8874D3-9977-587E-9FEC-6B505BD97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82D84-2751-4B4D-A113-F058AD45D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981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571D5-50B7-6967-677C-887A1A88F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DA7E6B-BFA0-FA38-C904-345B477B78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01B3E-E205-6159-815C-1130512F9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EE14B-146E-40BD-8446-8E545083D3D9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585DE-373C-9F58-B0B3-4B4FA3F6A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C1EC5-3607-F4AA-2FE3-1ECFE9CA5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82D84-2751-4B4D-A113-F058AD45D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729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9E46BC-6FFA-ED7E-B34D-04FF8CEC91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C37B52-6BC4-8592-8339-28D2CAA126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D40AB-3E6F-E6FB-3A00-17D07C9D6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EE14B-146E-40BD-8446-8E545083D3D9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D4B5E-6C47-52EE-3726-293F06E5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24F5C-B9F8-4BF3-5814-2B0C41C3F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82D84-2751-4B4D-A113-F058AD45D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123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C52520-C1EF-E8AB-915F-2F1E2B293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BB36A-7342-AB11-E8EA-708B1CD1C8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C72A7-2AE6-CB12-55BD-FBB258C350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6EE14B-146E-40BD-8446-8E545083D3D9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B0B2C-447D-D148-2202-40FE2B353F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F83D8-9977-4870-B2E0-B732C183B7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482D84-2751-4B4D-A113-F058AD45D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495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B293F-9CC3-0EB3-B163-CE8BD36121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30E11F-415E-40FC-E4B4-6FA612311E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FDD178-0E39-0987-522F-9933A11D7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9525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8FA31D3-62B2-2E27-B20A-437C169EEFA9}"/>
              </a:ext>
            </a:extLst>
          </p:cNvPr>
          <p:cNvSpPr/>
          <p:nvPr/>
        </p:nvSpPr>
        <p:spPr>
          <a:xfrm>
            <a:off x="-16042" y="0"/>
            <a:ext cx="12192000" cy="9562011"/>
          </a:xfrm>
          <a:prstGeom prst="rect">
            <a:avLst/>
          </a:prstGeom>
          <a:solidFill>
            <a:srgbClr val="002060">
              <a:alpha val="54000"/>
            </a:srgb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430445-9723-C6B9-A494-6F99DB8C5152}"/>
              </a:ext>
            </a:extLst>
          </p:cNvPr>
          <p:cNvSpPr txBox="1"/>
          <p:nvPr/>
        </p:nvSpPr>
        <p:spPr>
          <a:xfrm>
            <a:off x="3906982" y="3974256"/>
            <a:ext cx="43780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6000" dirty="0">
                <a:solidFill>
                  <a:schemeClr val="bg1"/>
                </a:solidFill>
                <a:latin typeface="Abadi" panose="020B0604020104020204" pitchFamily="34" charset="0"/>
              </a:rPr>
              <a:t>Metataidot</a:t>
            </a:r>
            <a:endParaRPr lang="en-US" sz="60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532A52-5589-6B28-9DF5-5123B89C00DB}"/>
              </a:ext>
            </a:extLst>
          </p:cNvPr>
          <p:cNvSpPr txBox="1"/>
          <p:nvPr/>
        </p:nvSpPr>
        <p:spPr>
          <a:xfrm>
            <a:off x="3050431" y="4905673"/>
            <a:ext cx="60590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2800" dirty="0">
                <a:solidFill>
                  <a:schemeClr val="bg1"/>
                </a:solidFill>
                <a:latin typeface="Abadi" panose="020B0604020104020204" pitchFamily="34" charset="0"/>
              </a:rPr>
              <a:t>työpaikan piilotettu helmi</a:t>
            </a:r>
            <a:endParaRPr lang="en-US" sz="28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7F9035-2EE3-33CC-C9E2-DC7F71045FFD}"/>
              </a:ext>
            </a:extLst>
          </p:cNvPr>
          <p:cNvSpPr txBox="1"/>
          <p:nvPr/>
        </p:nvSpPr>
        <p:spPr>
          <a:xfrm>
            <a:off x="4322618" y="8503068"/>
            <a:ext cx="3962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Metataitojen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tarkoitus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on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tukea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aktivoida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ja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tehostaa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muiden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taitojen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käyttöä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sekä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auttaa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ihmistä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sopeutumaan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jatkuvaan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muutokseen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. Ne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eivät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liity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mihinkään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tiettyyn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ammattiin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tai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työn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sisältöön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vaan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ne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ovat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"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taitoja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taitojen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taustalla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" –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eli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taitoja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joiden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avulla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opimme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käsittelemme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tietoa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ja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toimimme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muiden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kanssa</a:t>
            </a:r>
            <a:endParaRPr lang="en-US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685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7E932-B231-5F8F-4305-CD61F0F14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79AB8-4FC8-7CCC-2FC6-3AA0B3D680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39AE53-6971-A9AD-56CF-E4ACFBBC98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6D4872-2C22-49B2-2418-F7CBF873B4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9525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47A7F9D-2237-FC16-3468-8D40BBF0A644}"/>
              </a:ext>
            </a:extLst>
          </p:cNvPr>
          <p:cNvSpPr/>
          <p:nvPr/>
        </p:nvSpPr>
        <p:spPr>
          <a:xfrm>
            <a:off x="-16042" y="0"/>
            <a:ext cx="12192000" cy="9562011"/>
          </a:xfrm>
          <a:prstGeom prst="rect">
            <a:avLst/>
          </a:prstGeom>
          <a:solidFill>
            <a:srgbClr val="002060">
              <a:alpha val="54000"/>
            </a:srgb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CC4DA6-C8F8-78B8-ACFB-2D0B3B83F6DF}"/>
              </a:ext>
            </a:extLst>
          </p:cNvPr>
          <p:cNvSpPr txBox="1"/>
          <p:nvPr/>
        </p:nvSpPr>
        <p:spPr>
          <a:xfrm>
            <a:off x="3837710" y="522456"/>
            <a:ext cx="43780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6000" dirty="0">
                <a:solidFill>
                  <a:schemeClr val="bg1"/>
                </a:solidFill>
                <a:latin typeface="Abadi" panose="020B0604020104020204" pitchFamily="34" charset="0"/>
              </a:rPr>
              <a:t>Metataidot</a:t>
            </a:r>
            <a:endParaRPr lang="en-US" sz="60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FAAF8A-3043-A13A-4C37-BACB3ABA35C9}"/>
              </a:ext>
            </a:extLst>
          </p:cNvPr>
          <p:cNvSpPr txBox="1"/>
          <p:nvPr/>
        </p:nvSpPr>
        <p:spPr>
          <a:xfrm>
            <a:off x="2981159" y="1453873"/>
            <a:ext cx="60590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2800" dirty="0">
                <a:solidFill>
                  <a:schemeClr val="bg1"/>
                </a:solidFill>
                <a:latin typeface="Abadi" panose="020B0604020104020204" pitchFamily="34" charset="0"/>
              </a:rPr>
              <a:t>työpaikan piilotettu helmi</a:t>
            </a:r>
            <a:endParaRPr lang="en-US" sz="28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05309E-B7BE-3023-5A53-1BC7F0C93C42}"/>
              </a:ext>
            </a:extLst>
          </p:cNvPr>
          <p:cNvSpPr txBox="1"/>
          <p:nvPr/>
        </p:nvSpPr>
        <p:spPr>
          <a:xfrm>
            <a:off x="4350328" y="2541805"/>
            <a:ext cx="3962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Metataitojen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tarkoitus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on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tukea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aktivoida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ja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tehostaa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muiden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taitojen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käyttöä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sekä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auttaa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ihmistä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sopeutumaan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jatkuvaan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muutokseen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. Ne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eivät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liity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mihinkään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tiettyyn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ammattiin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tai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työn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sisältöön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vaan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ne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ovat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"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taitoja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taitojen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taustalla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" –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eli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taitoja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joiden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avulla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opimme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käsittelemme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tietoa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ja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toimimme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muiden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kanssa</a:t>
            </a:r>
            <a:endParaRPr lang="en-US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049343-48B9-FC1F-81D8-B6071EF889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5450" y="1802695"/>
            <a:ext cx="7333671" cy="4340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7051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32D22-B60A-8C4A-4BAE-26562DA95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2B2C3-EAB5-F378-4DB9-49C4C7D4E9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98761C-7AA5-F223-F7C5-7E72780465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670BF9-A583-F9D4-B58E-717D479BD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9525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7A05619-BDAA-0BF9-DE1C-2F508CC86F81}"/>
              </a:ext>
            </a:extLst>
          </p:cNvPr>
          <p:cNvSpPr/>
          <p:nvPr/>
        </p:nvSpPr>
        <p:spPr>
          <a:xfrm>
            <a:off x="-16042" y="0"/>
            <a:ext cx="12192000" cy="9562011"/>
          </a:xfrm>
          <a:prstGeom prst="rect">
            <a:avLst/>
          </a:prstGeom>
          <a:solidFill>
            <a:srgbClr val="002060">
              <a:alpha val="54000"/>
            </a:srgb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601994-5DA9-458C-D842-F7E5D8BF9729}"/>
              </a:ext>
            </a:extLst>
          </p:cNvPr>
          <p:cNvSpPr txBox="1"/>
          <p:nvPr/>
        </p:nvSpPr>
        <p:spPr>
          <a:xfrm>
            <a:off x="3837710" y="522456"/>
            <a:ext cx="43780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6000" dirty="0">
                <a:solidFill>
                  <a:schemeClr val="bg1"/>
                </a:solidFill>
                <a:latin typeface="Abadi" panose="020B0604020104020204" pitchFamily="34" charset="0"/>
              </a:rPr>
              <a:t>Metataidot</a:t>
            </a:r>
            <a:endParaRPr lang="en-US" sz="60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7D38E0-99D5-8AA6-39B9-3BC120895EE0}"/>
              </a:ext>
            </a:extLst>
          </p:cNvPr>
          <p:cNvSpPr txBox="1"/>
          <p:nvPr/>
        </p:nvSpPr>
        <p:spPr>
          <a:xfrm>
            <a:off x="2981159" y="1453873"/>
            <a:ext cx="60590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2800" dirty="0">
                <a:solidFill>
                  <a:schemeClr val="bg1"/>
                </a:solidFill>
                <a:latin typeface="Abadi" panose="020B0604020104020204" pitchFamily="34" charset="0"/>
              </a:rPr>
              <a:t>työpaikan piilotettu helmi</a:t>
            </a:r>
            <a:endParaRPr lang="en-US" sz="28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421AF6-25FB-FE4E-8022-54DD092AC744}"/>
              </a:ext>
            </a:extLst>
          </p:cNvPr>
          <p:cNvSpPr txBox="1"/>
          <p:nvPr/>
        </p:nvSpPr>
        <p:spPr>
          <a:xfrm>
            <a:off x="581892" y="2541805"/>
            <a:ext cx="3962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Metataitojen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tarkoitus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on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tukea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aktivoida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ja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tehostaa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muiden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taitojen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käyttöä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sekä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auttaa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ihmistä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sopeutumaan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jatkuvaan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muutokseen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. Ne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eivät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liity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mihinkään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tiettyyn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ammattiin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tai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työn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sisältöön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vaan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ne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ovat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"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taitoja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taitojen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taustalla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" –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eli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taitoja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joiden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avulla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opimme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käsittelemme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tietoa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ja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toimimme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muiden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kanssa</a:t>
            </a:r>
            <a:endParaRPr lang="en-US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137EF0-2881-B99D-315F-C9FAA28C1F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4292" y="2138026"/>
            <a:ext cx="7333671" cy="43405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C5AA270-D42F-D913-C90D-18F4ABC422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" y="9525000"/>
            <a:ext cx="12185522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FE9D2B4-C2A2-B917-9A4E-4CC942885353}"/>
              </a:ext>
            </a:extLst>
          </p:cNvPr>
          <p:cNvSpPr txBox="1"/>
          <p:nvPr/>
        </p:nvSpPr>
        <p:spPr>
          <a:xfrm>
            <a:off x="5063959" y="8670787"/>
            <a:ext cx="18934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4000" dirty="0">
                <a:solidFill>
                  <a:schemeClr val="bg1"/>
                </a:solidFill>
              </a:rPr>
              <a:t>KIITOS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14" name="!!S4_kicker"/>
          <p:cNvSpPr txBox="1"/>
          <p:nvPr/>
        </p:nvSpPr>
        <p:spPr>
          <a:xfrm>
            <a:off x="594360" y="7150608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5DE5FF"/>
                </a:solidFill>
                <a:latin typeface="Aptos"/>
              </a:rPr>
              <a:t>M E T A T A I D O T  /  02</a:t>
            </a:r>
          </a:p>
        </p:txBody>
      </p:sp>
      <p:sp>
        <p:nvSpPr>
          <p:cNvPr id="15" name="!!S4_title"/>
          <p:cNvSpPr txBox="1"/>
          <p:nvPr/>
        </p:nvSpPr>
        <p:spPr>
          <a:xfrm>
            <a:off x="594360" y="7479792"/>
            <a:ext cx="107899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500" b="1">
                <a:solidFill>
                  <a:srgbClr val="F5FAFF"/>
                </a:solidFill>
                <a:latin typeface="Aptos"/>
              </a:rPr>
              <a:t>Miksi metataidot ratkaisevat?</a:t>
            </a:r>
          </a:p>
        </p:txBody>
      </p:sp>
      <p:sp>
        <p:nvSpPr>
          <p:cNvPr id="16" name="!!S4_subtitle"/>
          <p:cNvSpPr txBox="1"/>
          <p:nvPr/>
        </p:nvSpPr>
        <p:spPr>
          <a:xfrm>
            <a:off x="621792" y="8202168"/>
            <a:ext cx="1069848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C1D1EC"/>
                </a:solidFill>
                <a:latin typeface="Aptos"/>
              </a:rPr>
              <a:t>Kun työn sisältö muuttuu, kyky oppia ja toimia auttaa eteenpäin.</a:t>
            </a:r>
          </a:p>
        </p:txBody>
      </p:sp>
      <p:cxnSp>
        <p:nvCxnSpPr>
          <p:cNvPr id="17" name="!!S4_divider"/>
          <p:cNvCxnSpPr/>
          <p:nvPr/>
        </p:nvCxnSpPr>
        <p:spPr>
          <a:xfrm>
            <a:off x="612648" y="8750807"/>
            <a:ext cx="10954512" cy="0"/>
          </a:xfrm>
          <a:prstGeom prst="line">
            <a:avLst/>
          </a:prstGeom>
          <a:ln w="12700">
            <a:solidFill>
              <a:srgbClr val="34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S4_card0"/>
          <p:cNvSpPr/>
          <p:nvPr/>
        </p:nvSpPr>
        <p:spPr>
          <a:xfrm>
            <a:off x="594360" y="9061704"/>
            <a:ext cx="3557016" cy="3044952"/>
          </a:xfrm>
          <a:prstGeom prst="roundRect">
            <a:avLst>
              <a:gd name="adj" fmla="val 13000"/>
            </a:avLst>
          </a:prstGeom>
          <a:solidFill>
            <a:srgbClr val="0B2451">
              <a:alpha val="86000"/>
            </a:srgbClr>
          </a:solidFill>
          <a:ln w="13970">
            <a:solidFill>
              <a:srgbClr val="5DE5FF">
                <a:alpha val="7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!!S4_topline0"/>
          <p:cNvSpPr/>
          <p:nvPr/>
        </p:nvSpPr>
        <p:spPr>
          <a:xfrm>
            <a:off x="804672" y="9262872"/>
            <a:ext cx="969264" cy="50292"/>
          </a:xfrm>
          <a:prstGeom prst="rect">
            <a:avLst/>
          </a:prstGeom>
          <a:solidFill>
            <a:srgbClr val="5DE5FF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!!S4_num0"/>
          <p:cNvSpPr txBox="1"/>
          <p:nvPr/>
        </p:nvSpPr>
        <p:spPr>
          <a:xfrm>
            <a:off x="832104" y="9546336"/>
            <a:ext cx="10972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5DE5FF"/>
                </a:solidFill>
                <a:latin typeface="Aptos"/>
              </a:rPr>
              <a:t>01</a:t>
            </a:r>
          </a:p>
        </p:txBody>
      </p:sp>
      <p:sp>
        <p:nvSpPr>
          <p:cNvPr id="21" name="!!S4_word0"/>
          <p:cNvSpPr txBox="1"/>
          <p:nvPr/>
        </p:nvSpPr>
        <p:spPr>
          <a:xfrm>
            <a:off x="832104" y="10287000"/>
            <a:ext cx="3081528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5FAFF"/>
                </a:solidFill>
                <a:latin typeface="Aptos"/>
              </a:rPr>
              <a:t>MUUTOS</a:t>
            </a:r>
          </a:p>
        </p:txBody>
      </p:sp>
      <p:sp>
        <p:nvSpPr>
          <p:cNvPr id="22" name="!!S4_body0"/>
          <p:cNvSpPr txBox="1"/>
          <p:nvPr/>
        </p:nvSpPr>
        <p:spPr>
          <a:xfrm>
            <a:off x="832104" y="10899648"/>
            <a:ext cx="3054096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>
                <a:solidFill>
                  <a:srgbClr val="C1D1EC"/>
                </a:solidFill>
                <a:latin typeface="Aptos"/>
              </a:rPr>
              <a:t>Sopeudumme uusiin työkaluihin ja toimintatapoihin.</a:t>
            </a:r>
          </a:p>
        </p:txBody>
      </p:sp>
      <p:sp>
        <p:nvSpPr>
          <p:cNvPr id="23" name="!!S4_card1"/>
          <p:cNvSpPr/>
          <p:nvPr/>
        </p:nvSpPr>
        <p:spPr>
          <a:xfrm>
            <a:off x="4407408" y="9061704"/>
            <a:ext cx="3557016" cy="3044952"/>
          </a:xfrm>
          <a:prstGeom prst="roundRect">
            <a:avLst>
              <a:gd name="adj" fmla="val 13000"/>
            </a:avLst>
          </a:prstGeom>
          <a:solidFill>
            <a:srgbClr val="0B2451">
              <a:alpha val="86000"/>
            </a:srgbClr>
          </a:solidFill>
          <a:ln w="13970">
            <a:solidFill>
              <a:srgbClr val="9A81FF">
                <a:alpha val="7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!!S4_topline1"/>
          <p:cNvSpPr/>
          <p:nvPr/>
        </p:nvSpPr>
        <p:spPr>
          <a:xfrm>
            <a:off x="4617720" y="9262872"/>
            <a:ext cx="969264" cy="50292"/>
          </a:xfrm>
          <a:prstGeom prst="rect">
            <a:avLst/>
          </a:prstGeom>
          <a:solidFill>
            <a:srgbClr val="9A81FF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!!S4_num1"/>
          <p:cNvSpPr txBox="1"/>
          <p:nvPr/>
        </p:nvSpPr>
        <p:spPr>
          <a:xfrm>
            <a:off x="4645152" y="9546336"/>
            <a:ext cx="10972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9A81FF"/>
                </a:solidFill>
                <a:latin typeface="Aptos"/>
              </a:rPr>
              <a:t>02</a:t>
            </a:r>
          </a:p>
        </p:txBody>
      </p:sp>
      <p:sp>
        <p:nvSpPr>
          <p:cNvPr id="26" name="!!S4_word1"/>
          <p:cNvSpPr txBox="1"/>
          <p:nvPr/>
        </p:nvSpPr>
        <p:spPr>
          <a:xfrm>
            <a:off x="4645152" y="10287000"/>
            <a:ext cx="3081528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5FAFF"/>
                </a:solidFill>
                <a:latin typeface="Aptos"/>
              </a:rPr>
              <a:t>OPPIMINEN</a:t>
            </a:r>
          </a:p>
        </p:txBody>
      </p:sp>
      <p:sp>
        <p:nvSpPr>
          <p:cNvPr id="27" name="!!S4_body1"/>
          <p:cNvSpPr txBox="1"/>
          <p:nvPr/>
        </p:nvSpPr>
        <p:spPr>
          <a:xfrm>
            <a:off x="4645152" y="10899648"/>
            <a:ext cx="3054096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>
                <a:solidFill>
                  <a:srgbClr val="C1D1EC"/>
                </a:solidFill>
                <a:latin typeface="Aptos"/>
              </a:rPr>
              <a:t>Yhdistämme uutta tietoa aiempaan osaamiseen.</a:t>
            </a:r>
          </a:p>
        </p:txBody>
      </p:sp>
      <p:sp>
        <p:nvSpPr>
          <p:cNvPr id="28" name="!!S4_card2"/>
          <p:cNvSpPr/>
          <p:nvPr/>
        </p:nvSpPr>
        <p:spPr>
          <a:xfrm>
            <a:off x="8220456" y="9061704"/>
            <a:ext cx="3557016" cy="3044952"/>
          </a:xfrm>
          <a:prstGeom prst="roundRect">
            <a:avLst>
              <a:gd name="adj" fmla="val 13000"/>
            </a:avLst>
          </a:prstGeom>
          <a:solidFill>
            <a:srgbClr val="0B2451">
              <a:alpha val="86000"/>
            </a:srgbClr>
          </a:solidFill>
          <a:ln w="13970">
            <a:solidFill>
              <a:srgbClr val="5DE5FF">
                <a:alpha val="7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!!S4_topline2"/>
          <p:cNvSpPr/>
          <p:nvPr/>
        </p:nvSpPr>
        <p:spPr>
          <a:xfrm>
            <a:off x="8430768" y="9262872"/>
            <a:ext cx="969264" cy="50292"/>
          </a:xfrm>
          <a:prstGeom prst="rect">
            <a:avLst/>
          </a:prstGeom>
          <a:solidFill>
            <a:srgbClr val="5DE5FF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!!S4_num2"/>
          <p:cNvSpPr txBox="1"/>
          <p:nvPr/>
        </p:nvSpPr>
        <p:spPr>
          <a:xfrm>
            <a:off x="8458200" y="9546336"/>
            <a:ext cx="10972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5DE5FF"/>
                </a:solidFill>
                <a:latin typeface="Aptos"/>
              </a:rPr>
              <a:t>03</a:t>
            </a:r>
          </a:p>
        </p:txBody>
      </p:sp>
      <p:sp>
        <p:nvSpPr>
          <p:cNvPr id="31" name="!!S4_word2"/>
          <p:cNvSpPr txBox="1"/>
          <p:nvPr/>
        </p:nvSpPr>
        <p:spPr>
          <a:xfrm>
            <a:off x="8458200" y="10287000"/>
            <a:ext cx="3081528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5FAFF"/>
                </a:solidFill>
                <a:latin typeface="Aptos"/>
              </a:rPr>
              <a:t>YHTEISTYÖ</a:t>
            </a:r>
          </a:p>
        </p:txBody>
      </p:sp>
      <p:sp>
        <p:nvSpPr>
          <p:cNvPr id="32" name="!!S4_body2"/>
          <p:cNvSpPr txBox="1"/>
          <p:nvPr/>
        </p:nvSpPr>
        <p:spPr>
          <a:xfrm>
            <a:off x="8458200" y="10899648"/>
            <a:ext cx="3054096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>
                <a:solidFill>
                  <a:srgbClr val="C1D1EC"/>
                </a:solidFill>
                <a:latin typeface="Aptos"/>
              </a:rPr>
              <a:t>Rakennamme luottamusta ja ratkaisuja yhdessä.</a:t>
            </a:r>
          </a:p>
        </p:txBody>
      </p:sp>
      <p:sp>
        <p:nvSpPr>
          <p:cNvPr id="33" name="!!S4_footer_dot"/>
          <p:cNvSpPr/>
          <p:nvPr/>
        </p:nvSpPr>
        <p:spPr>
          <a:xfrm>
            <a:off x="612648" y="12774168"/>
            <a:ext cx="118872" cy="118872"/>
          </a:xfrm>
          <a:prstGeom prst="ellipse">
            <a:avLst/>
          </a:prstGeom>
          <a:solidFill>
            <a:srgbClr val="5CD8FF">
              <a:alpha val="88000"/>
            </a:srgbClr>
          </a:solidFill>
          <a:ln w="20955">
            <a:solidFill>
              <a:srgbClr val="5D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!!S4_takeaway"/>
          <p:cNvSpPr txBox="1"/>
          <p:nvPr/>
        </p:nvSpPr>
        <p:spPr>
          <a:xfrm>
            <a:off x="896112" y="12655296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F5FAFF"/>
                </a:solidFill>
                <a:latin typeface="Aptos"/>
              </a:rPr>
              <a:t>Metataidot eivät korvaa ammattitaitoa – ne vahvistavat sen käyttöä.</a:t>
            </a:r>
          </a:p>
        </p:txBody>
      </p:sp>
    </p:spTree>
    <p:extLst>
      <p:ext uri="{BB962C8B-B14F-4D97-AF65-F5344CB8AC3E}">
        <p14:creationId xmlns:p14="http://schemas.microsoft.com/office/powerpoint/2010/main" val="1102834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2B2C3-EAB5-F378-4DB9-49C4C7D4E9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98761C-7AA5-F223-F7C5-7E72780465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670BF9-A583-F9D4-B58E-717D479BD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6304"/>
            <a:ext cx="12192000" cy="9525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7A05619-BDAA-0BF9-DE1C-2F508CC86F81}"/>
              </a:ext>
            </a:extLst>
          </p:cNvPr>
          <p:cNvSpPr/>
          <p:nvPr/>
        </p:nvSpPr>
        <p:spPr>
          <a:xfrm>
            <a:off x="-16042" y="0"/>
            <a:ext cx="12192000" cy="9601200"/>
          </a:xfrm>
          <a:prstGeom prst="rect">
            <a:avLst/>
          </a:prstGeom>
          <a:solidFill>
            <a:srgbClr val="00112E">
              <a:alpha val="64000"/>
            </a:srgb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601994-5DA9-458C-D842-F7E5D8BF9729}"/>
              </a:ext>
            </a:extLst>
          </p:cNvPr>
          <p:cNvSpPr txBox="1"/>
          <p:nvPr/>
        </p:nvSpPr>
        <p:spPr>
          <a:xfrm>
            <a:off x="3837710" y="-6289824"/>
            <a:ext cx="43780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6000" dirty="0">
                <a:solidFill>
                  <a:schemeClr val="bg1"/>
                </a:solidFill>
                <a:latin typeface="Abadi" panose="020B0604020104020204" pitchFamily="34" charset="0"/>
              </a:rPr>
              <a:t>Metataidot</a:t>
            </a:r>
            <a:endParaRPr lang="en-US" sz="60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7D38E0-99D5-8AA6-39B9-3BC120895EE0}"/>
              </a:ext>
            </a:extLst>
          </p:cNvPr>
          <p:cNvSpPr txBox="1"/>
          <p:nvPr/>
        </p:nvSpPr>
        <p:spPr>
          <a:xfrm>
            <a:off x="2981159" y="-5358407"/>
            <a:ext cx="60590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2800" dirty="0">
                <a:solidFill>
                  <a:schemeClr val="bg1"/>
                </a:solidFill>
                <a:latin typeface="Abadi" panose="020B0604020104020204" pitchFamily="34" charset="0"/>
              </a:rPr>
              <a:t>työpaikan piilotettu helmi</a:t>
            </a:r>
            <a:endParaRPr lang="en-US" sz="28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421AF6-25FB-FE4E-8022-54DD092AC744}"/>
              </a:ext>
            </a:extLst>
          </p:cNvPr>
          <p:cNvSpPr txBox="1"/>
          <p:nvPr/>
        </p:nvSpPr>
        <p:spPr>
          <a:xfrm>
            <a:off x="581892" y="-4270475"/>
            <a:ext cx="3962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Metataitojen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tarkoitus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on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tukea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aktivoida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ja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tehostaa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muiden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taitojen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käyttöä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sekä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auttaa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ihmistä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sopeutumaan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jatkuvaan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muutokseen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. Ne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eivät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liity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mihinkään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tiettyyn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ammattiin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tai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työn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sisältöön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vaan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ne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ovat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"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taitoja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taitojen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taustalla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" –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eli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taitoja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joiden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avulla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opimme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käsittelemme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tietoa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ja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toimimme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muiden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kanssa</a:t>
            </a:r>
            <a:endParaRPr lang="en-US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137EF0-2881-B99D-315F-C9FAA28C1F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4292" y="-4674254"/>
            <a:ext cx="7333671" cy="43405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C5AA270-D42F-D913-C90D-18F4ABC422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" y="9525000"/>
            <a:ext cx="12185522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FE9D2B4-C2A2-B917-9A4E-4CC942885353}"/>
              </a:ext>
            </a:extLst>
          </p:cNvPr>
          <p:cNvSpPr txBox="1"/>
          <p:nvPr/>
        </p:nvSpPr>
        <p:spPr>
          <a:xfrm>
            <a:off x="5063959" y="8670787"/>
            <a:ext cx="18934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4000" dirty="0">
                <a:solidFill>
                  <a:schemeClr val="bg1"/>
                </a:solidFill>
              </a:rPr>
              <a:t>KIITOS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15" name="!!S4_title"/>
          <p:cNvSpPr txBox="1"/>
          <p:nvPr/>
        </p:nvSpPr>
        <p:spPr>
          <a:xfrm>
            <a:off x="594360" y="621792"/>
            <a:ext cx="107899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500" b="1">
                <a:solidFill>
                  <a:srgbClr val="F5FAFF"/>
                </a:solidFill>
                <a:latin typeface="Aptos"/>
              </a:rPr>
              <a:t>Miksi metataidot ratkaisevat?</a:t>
            </a:r>
          </a:p>
        </p:txBody>
      </p:sp>
      <p:sp>
        <p:nvSpPr>
          <p:cNvPr id="16" name="!!S4_subtitle"/>
          <p:cNvSpPr txBox="1"/>
          <p:nvPr/>
        </p:nvSpPr>
        <p:spPr>
          <a:xfrm>
            <a:off x="621792" y="1344168"/>
            <a:ext cx="1069848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C1D1EC"/>
                </a:solidFill>
                <a:latin typeface="Aptos"/>
              </a:rPr>
              <a:t>Kun työn sisältö muuttuu, kyky oppia ja toimia auttaa eteenpäin.</a:t>
            </a:r>
          </a:p>
        </p:txBody>
      </p:sp>
      <p:cxnSp>
        <p:nvCxnSpPr>
          <p:cNvPr id="17" name="!!S4_divider"/>
          <p:cNvCxnSpPr/>
          <p:nvPr/>
        </p:nvCxnSpPr>
        <p:spPr>
          <a:xfrm>
            <a:off x="612648" y="1892807"/>
            <a:ext cx="10954512" cy="0"/>
          </a:xfrm>
          <a:prstGeom prst="line">
            <a:avLst/>
          </a:prstGeom>
          <a:ln w="12700">
            <a:solidFill>
              <a:srgbClr val="34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S4_card0"/>
          <p:cNvSpPr/>
          <p:nvPr/>
        </p:nvSpPr>
        <p:spPr>
          <a:xfrm>
            <a:off x="594360" y="2203704"/>
            <a:ext cx="3557016" cy="3044952"/>
          </a:xfrm>
          <a:prstGeom prst="roundRect">
            <a:avLst>
              <a:gd name="adj" fmla="val 13000"/>
            </a:avLst>
          </a:prstGeom>
          <a:solidFill>
            <a:srgbClr val="0B2451">
              <a:alpha val="86000"/>
            </a:srgbClr>
          </a:solidFill>
          <a:ln w="13970">
            <a:solidFill>
              <a:srgbClr val="5DE5FF">
                <a:alpha val="7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!!S4_topline0"/>
          <p:cNvSpPr/>
          <p:nvPr/>
        </p:nvSpPr>
        <p:spPr>
          <a:xfrm>
            <a:off x="804672" y="2404872"/>
            <a:ext cx="969264" cy="50292"/>
          </a:xfrm>
          <a:prstGeom prst="rect">
            <a:avLst/>
          </a:prstGeom>
          <a:solidFill>
            <a:srgbClr val="5DE5FF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!!S4_num0"/>
          <p:cNvSpPr txBox="1"/>
          <p:nvPr/>
        </p:nvSpPr>
        <p:spPr>
          <a:xfrm>
            <a:off x="832104" y="2688336"/>
            <a:ext cx="10972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5DE5FF"/>
                </a:solidFill>
                <a:latin typeface="Aptos"/>
              </a:rPr>
              <a:t>01</a:t>
            </a:r>
          </a:p>
        </p:txBody>
      </p:sp>
      <p:sp>
        <p:nvSpPr>
          <p:cNvPr id="21" name="!!S4_word0"/>
          <p:cNvSpPr txBox="1"/>
          <p:nvPr/>
        </p:nvSpPr>
        <p:spPr>
          <a:xfrm>
            <a:off x="832104" y="3429000"/>
            <a:ext cx="3081528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5FAFF"/>
                </a:solidFill>
                <a:latin typeface="Aptos"/>
              </a:rPr>
              <a:t>MUUTOS</a:t>
            </a:r>
          </a:p>
        </p:txBody>
      </p:sp>
      <p:sp>
        <p:nvSpPr>
          <p:cNvPr id="22" name="!!S4_body0"/>
          <p:cNvSpPr txBox="1"/>
          <p:nvPr/>
        </p:nvSpPr>
        <p:spPr>
          <a:xfrm>
            <a:off x="832104" y="4041648"/>
            <a:ext cx="3054096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>
                <a:solidFill>
                  <a:srgbClr val="C1D1EC"/>
                </a:solidFill>
                <a:latin typeface="Aptos"/>
              </a:rPr>
              <a:t>Sopeudumme uusiin työkaluihin ja toimintatapoihin.</a:t>
            </a:r>
          </a:p>
        </p:txBody>
      </p:sp>
      <p:sp>
        <p:nvSpPr>
          <p:cNvPr id="23" name="!!S4_card1"/>
          <p:cNvSpPr/>
          <p:nvPr/>
        </p:nvSpPr>
        <p:spPr>
          <a:xfrm>
            <a:off x="4407408" y="2203704"/>
            <a:ext cx="3557016" cy="3044952"/>
          </a:xfrm>
          <a:prstGeom prst="roundRect">
            <a:avLst>
              <a:gd name="adj" fmla="val 13000"/>
            </a:avLst>
          </a:prstGeom>
          <a:solidFill>
            <a:srgbClr val="0B2451">
              <a:alpha val="86000"/>
            </a:srgbClr>
          </a:solidFill>
          <a:ln w="13970">
            <a:solidFill>
              <a:srgbClr val="9A81FF">
                <a:alpha val="7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!!S4_topline1"/>
          <p:cNvSpPr/>
          <p:nvPr/>
        </p:nvSpPr>
        <p:spPr>
          <a:xfrm>
            <a:off x="4617720" y="2404872"/>
            <a:ext cx="969264" cy="50292"/>
          </a:xfrm>
          <a:prstGeom prst="rect">
            <a:avLst/>
          </a:prstGeom>
          <a:solidFill>
            <a:srgbClr val="9A81FF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!!S4_num1"/>
          <p:cNvSpPr txBox="1"/>
          <p:nvPr/>
        </p:nvSpPr>
        <p:spPr>
          <a:xfrm>
            <a:off x="4645152" y="2688336"/>
            <a:ext cx="10972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9A81FF"/>
                </a:solidFill>
                <a:latin typeface="Aptos"/>
              </a:rPr>
              <a:t>02</a:t>
            </a:r>
          </a:p>
        </p:txBody>
      </p:sp>
      <p:sp>
        <p:nvSpPr>
          <p:cNvPr id="26" name="!!S4_word1"/>
          <p:cNvSpPr txBox="1"/>
          <p:nvPr/>
        </p:nvSpPr>
        <p:spPr>
          <a:xfrm>
            <a:off x="4645152" y="3429000"/>
            <a:ext cx="3081528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5FAFF"/>
                </a:solidFill>
                <a:latin typeface="Aptos"/>
              </a:rPr>
              <a:t>OPPIMINEN</a:t>
            </a:r>
          </a:p>
        </p:txBody>
      </p:sp>
      <p:sp>
        <p:nvSpPr>
          <p:cNvPr id="27" name="!!S4_body1"/>
          <p:cNvSpPr txBox="1"/>
          <p:nvPr/>
        </p:nvSpPr>
        <p:spPr>
          <a:xfrm>
            <a:off x="4645152" y="4041648"/>
            <a:ext cx="3054096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>
                <a:solidFill>
                  <a:srgbClr val="C1D1EC"/>
                </a:solidFill>
                <a:latin typeface="Aptos"/>
              </a:rPr>
              <a:t>Yhdistämme uutta tietoa aiempaan osaamiseen.</a:t>
            </a:r>
          </a:p>
        </p:txBody>
      </p:sp>
      <p:sp>
        <p:nvSpPr>
          <p:cNvPr id="28" name="!!S4_card2"/>
          <p:cNvSpPr/>
          <p:nvPr/>
        </p:nvSpPr>
        <p:spPr>
          <a:xfrm>
            <a:off x="8220456" y="2203704"/>
            <a:ext cx="3557016" cy="3044952"/>
          </a:xfrm>
          <a:prstGeom prst="roundRect">
            <a:avLst>
              <a:gd name="adj" fmla="val 13000"/>
            </a:avLst>
          </a:prstGeom>
          <a:solidFill>
            <a:srgbClr val="0B2451">
              <a:alpha val="86000"/>
            </a:srgbClr>
          </a:solidFill>
          <a:ln w="13970">
            <a:solidFill>
              <a:srgbClr val="5DE5FF">
                <a:alpha val="7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!!S4_topline2"/>
          <p:cNvSpPr/>
          <p:nvPr/>
        </p:nvSpPr>
        <p:spPr>
          <a:xfrm>
            <a:off x="8430768" y="2404872"/>
            <a:ext cx="969264" cy="50292"/>
          </a:xfrm>
          <a:prstGeom prst="rect">
            <a:avLst/>
          </a:prstGeom>
          <a:solidFill>
            <a:srgbClr val="5DE5FF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!!S4_num2"/>
          <p:cNvSpPr txBox="1"/>
          <p:nvPr/>
        </p:nvSpPr>
        <p:spPr>
          <a:xfrm>
            <a:off x="8458200" y="2688336"/>
            <a:ext cx="10972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5DE5FF"/>
                </a:solidFill>
                <a:latin typeface="Aptos"/>
              </a:rPr>
              <a:t>03</a:t>
            </a:r>
          </a:p>
        </p:txBody>
      </p:sp>
      <p:sp>
        <p:nvSpPr>
          <p:cNvPr id="31" name="!!S4_word2"/>
          <p:cNvSpPr txBox="1"/>
          <p:nvPr/>
        </p:nvSpPr>
        <p:spPr>
          <a:xfrm>
            <a:off x="8458200" y="3429000"/>
            <a:ext cx="3081528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5FAFF"/>
                </a:solidFill>
                <a:latin typeface="Aptos"/>
              </a:rPr>
              <a:t>YHTEISTYÖ</a:t>
            </a:r>
          </a:p>
        </p:txBody>
      </p:sp>
      <p:sp>
        <p:nvSpPr>
          <p:cNvPr id="32" name="!!S4_body2"/>
          <p:cNvSpPr txBox="1"/>
          <p:nvPr/>
        </p:nvSpPr>
        <p:spPr>
          <a:xfrm>
            <a:off x="8458200" y="4041648"/>
            <a:ext cx="3054096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>
                <a:solidFill>
                  <a:srgbClr val="C1D1EC"/>
                </a:solidFill>
                <a:latin typeface="Aptos"/>
              </a:rPr>
              <a:t>Rakennamme luottamusta ja ratkaisuja yhdessä.</a:t>
            </a:r>
          </a:p>
        </p:txBody>
      </p:sp>
      <p:sp>
        <p:nvSpPr>
          <p:cNvPr id="33" name="!!S4_footer_dot"/>
          <p:cNvSpPr/>
          <p:nvPr/>
        </p:nvSpPr>
        <p:spPr>
          <a:xfrm>
            <a:off x="612648" y="5916168"/>
            <a:ext cx="118872" cy="118872"/>
          </a:xfrm>
          <a:prstGeom prst="ellipse">
            <a:avLst/>
          </a:prstGeom>
          <a:solidFill>
            <a:srgbClr val="5CD8FF">
              <a:alpha val="88000"/>
            </a:srgbClr>
          </a:solidFill>
          <a:ln w="20955">
            <a:solidFill>
              <a:srgbClr val="5D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!!S4_takeaway"/>
          <p:cNvSpPr txBox="1"/>
          <p:nvPr/>
        </p:nvSpPr>
        <p:spPr>
          <a:xfrm>
            <a:off x="896112" y="5797296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F5FAFF"/>
                </a:solidFill>
                <a:latin typeface="Aptos"/>
              </a:rPr>
              <a:t>Metataidot eivät korvaa ammattitaitoa – ne vahvistavat sen käyttöä.</a:t>
            </a:r>
          </a:p>
        </p:txBody>
      </p:sp>
      <p:sp>
        <p:nvSpPr>
          <p:cNvPr id="35" name="!!S5_kicker"/>
          <p:cNvSpPr txBox="1"/>
          <p:nvPr/>
        </p:nvSpPr>
        <p:spPr>
          <a:xfrm>
            <a:off x="594360" y="7150608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5DE5FF"/>
                </a:solidFill>
                <a:latin typeface="Aptos"/>
              </a:rPr>
              <a:t>M E T A T A I D O T  /  03</a:t>
            </a:r>
          </a:p>
        </p:txBody>
      </p:sp>
      <p:sp>
        <p:nvSpPr>
          <p:cNvPr id="36" name="!!S5_title"/>
          <p:cNvSpPr txBox="1"/>
          <p:nvPr/>
        </p:nvSpPr>
        <p:spPr>
          <a:xfrm>
            <a:off x="594360" y="7479792"/>
            <a:ext cx="107899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500" b="1">
                <a:solidFill>
                  <a:srgbClr val="F5FAFF"/>
                </a:solidFill>
                <a:latin typeface="Aptos"/>
              </a:rPr>
              <a:t>Metataidot näkyvät teoissa</a:t>
            </a:r>
          </a:p>
        </p:txBody>
      </p:sp>
      <p:sp>
        <p:nvSpPr>
          <p:cNvPr id="37" name="!!S5_subtitle"/>
          <p:cNvSpPr txBox="1"/>
          <p:nvPr/>
        </p:nvSpPr>
        <p:spPr>
          <a:xfrm>
            <a:off x="621792" y="8202168"/>
            <a:ext cx="1069848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C1D1EC"/>
                </a:solidFill>
                <a:latin typeface="Aptos"/>
              </a:rPr>
              <a:t>Esimerkki: tiimi ottaa käyttöön uuden digitaalisen työkalun.</a:t>
            </a:r>
          </a:p>
        </p:txBody>
      </p:sp>
      <p:cxnSp>
        <p:nvCxnSpPr>
          <p:cNvPr id="38" name="!!S5_divider"/>
          <p:cNvCxnSpPr/>
          <p:nvPr/>
        </p:nvCxnSpPr>
        <p:spPr>
          <a:xfrm>
            <a:off x="612648" y="8750807"/>
            <a:ext cx="10954512" cy="0"/>
          </a:xfrm>
          <a:prstGeom prst="line">
            <a:avLst/>
          </a:prstGeom>
          <a:ln w="12700">
            <a:solidFill>
              <a:srgbClr val="34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!!S5_context_panel"/>
          <p:cNvSpPr/>
          <p:nvPr/>
        </p:nvSpPr>
        <p:spPr>
          <a:xfrm>
            <a:off x="612648" y="9034272"/>
            <a:ext cx="10972800" cy="749808"/>
          </a:xfrm>
          <a:prstGeom prst="roundRect">
            <a:avLst>
              <a:gd name="adj" fmla="val 13000"/>
            </a:avLst>
          </a:prstGeom>
          <a:solidFill>
            <a:srgbClr val="132C61">
              <a:alpha val="89000"/>
            </a:srgbClr>
          </a:solidFill>
          <a:ln w="13970">
            <a:solidFill>
              <a:srgbClr val="9A81FF">
                <a:alpha val="5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!!S5_context_tag"/>
          <p:cNvSpPr txBox="1"/>
          <p:nvPr/>
        </p:nvSpPr>
        <p:spPr>
          <a:xfrm>
            <a:off x="841248" y="9235440"/>
            <a:ext cx="1133856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5DE5FF"/>
                </a:solidFill>
                <a:latin typeface="Aptos"/>
              </a:rPr>
              <a:t>TILANNE</a:t>
            </a:r>
          </a:p>
        </p:txBody>
      </p:sp>
      <p:sp>
        <p:nvSpPr>
          <p:cNvPr id="41" name="!!S5_context"/>
          <p:cNvSpPr txBox="1"/>
          <p:nvPr/>
        </p:nvSpPr>
        <p:spPr>
          <a:xfrm>
            <a:off x="1975104" y="9189720"/>
            <a:ext cx="9079992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5FAFF"/>
                </a:solidFill>
                <a:latin typeface="Aptos"/>
              </a:rPr>
              <a:t>Uudet työkalut muuttavat arjen toimintatapoja.</a:t>
            </a:r>
          </a:p>
        </p:txBody>
      </p:sp>
      <p:sp>
        <p:nvSpPr>
          <p:cNvPr id="42" name="!!S5_flowcard0"/>
          <p:cNvSpPr/>
          <p:nvPr/>
        </p:nvSpPr>
        <p:spPr>
          <a:xfrm>
            <a:off x="603504" y="10204704"/>
            <a:ext cx="2560320" cy="1865376"/>
          </a:xfrm>
          <a:prstGeom prst="roundRect">
            <a:avLst>
              <a:gd name="adj" fmla="val 13000"/>
            </a:avLst>
          </a:prstGeom>
          <a:solidFill>
            <a:srgbClr val="102755">
              <a:alpha val="92000"/>
            </a:srgbClr>
          </a:solidFill>
          <a:ln w="13970">
            <a:solidFill>
              <a:srgbClr val="5DE5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!!S5_floworb0"/>
          <p:cNvSpPr/>
          <p:nvPr/>
        </p:nvSpPr>
        <p:spPr>
          <a:xfrm>
            <a:off x="777240" y="10369296"/>
            <a:ext cx="429768" cy="429768"/>
          </a:xfrm>
          <a:prstGeom prst="ellipse">
            <a:avLst/>
          </a:prstGeom>
          <a:solidFill>
            <a:srgbClr val="11315D">
              <a:alpha val="88000"/>
            </a:srgbClr>
          </a:solidFill>
          <a:ln w="20955">
            <a:solidFill>
              <a:srgbClr val="5D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!!S5_flownum0"/>
          <p:cNvSpPr txBox="1"/>
          <p:nvPr/>
        </p:nvSpPr>
        <p:spPr>
          <a:xfrm>
            <a:off x="804672" y="10451592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5FAFF"/>
                </a:solidFill>
                <a:latin typeface="Aptos"/>
              </a:rPr>
              <a:t>01</a:t>
            </a:r>
          </a:p>
        </p:txBody>
      </p:sp>
      <p:sp>
        <p:nvSpPr>
          <p:cNvPr id="45" name="!!S5_flowtitle0"/>
          <p:cNvSpPr txBox="1"/>
          <p:nvPr/>
        </p:nvSpPr>
        <p:spPr>
          <a:xfrm>
            <a:off x="1316736" y="10360152"/>
            <a:ext cx="168249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F5FAFF"/>
                </a:solidFill>
                <a:latin typeface="Aptos"/>
              </a:rPr>
              <a:t>HUOMAA</a:t>
            </a:r>
          </a:p>
        </p:txBody>
      </p:sp>
      <p:sp>
        <p:nvSpPr>
          <p:cNvPr id="46" name="!!S5_flowskill0"/>
          <p:cNvSpPr txBox="1"/>
          <p:nvPr/>
        </p:nvSpPr>
        <p:spPr>
          <a:xfrm>
            <a:off x="795528" y="10908791"/>
            <a:ext cx="222199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DE5FF"/>
                </a:solidFill>
                <a:latin typeface="Aptos"/>
              </a:rPr>
              <a:t>Kriittinen ajattelu</a:t>
            </a:r>
          </a:p>
        </p:txBody>
      </p:sp>
      <p:sp>
        <p:nvSpPr>
          <p:cNvPr id="47" name="!!S5_flowdesc0"/>
          <p:cNvSpPr txBox="1"/>
          <p:nvPr/>
        </p:nvSpPr>
        <p:spPr>
          <a:xfrm>
            <a:off x="786384" y="11292840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C1D1EC"/>
                </a:solidFill>
                <a:latin typeface="Aptos"/>
              </a:rPr>
              <a:t>Mikä oikeasti muuttuu?</a:t>
            </a:r>
          </a:p>
        </p:txBody>
      </p:sp>
      <p:cxnSp>
        <p:nvCxnSpPr>
          <p:cNvPr id="48" name="!!S5_link0"/>
          <p:cNvCxnSpPr/>
          <p:nvPr/>
        </p:nvCxnSpPr>
        <p:spPr>
          <a:xfrm>
            <a:off x="3172968" y="11128248"/>
            <a:ext cx="219456" cy="0"/>
          </a:xfrm>
          <a:prstGeom prst="line">
            <a:avLst/>
          </a:prstGeom>
          <a:ln w="25400">
            <a:solidFill>
              <a:srgbClr val="5D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!!S5_flowcard1"/>
          <p:cNvSpPr/>
          <p:nvPr/>
        </p:nvSpPr>
        <p:spPr>
          <a:xfrm>
            <a:off x="3419856" y="10204704"/>
            <a:ext cx="2560320" cy="1865376"/>
          </a:xfrm>
          <a:prstGeom prst="roundRect">
            <a:avLst>
              <a:gd name="adj" fmla="val 13000"/>
            </a:avLst>
          </a:prstGeom>
          <a:solidFill>
            <a:srgbClr val="102755">
              <a:alpha val="92000"/>
            </a:srgbClr>
          </a:solidFill>
          <a:ln w="13970">
            <a:solidFill>
              <a:srgbClr val="9A81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!!S5_floworb1"/>
          <p:cNvSpPr/>
          <p:nvPr/>
        </p:nvSpPr>
        <p:spPr>
          <a:xfrm>
            <a:off x="3593592" y="10369296"/>
            <a:ext cx="429768" cy="429768"/>
          </a:xfrm>
          <a:prstGeom prst="ellipse">
            <a:avLst/>
          </a:prstGeom>
          <a:solidFill>
            <a:srgbClr val="11315D">
              <a:alpha val="88000"/>
            </a:srgbClr>
          </a:solidFill>
          <a:ln w="20955">
            <a:solidFill>
              <a:srgbClr val="9A8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!!S5_flownum1"/>
          <p:cNvSpPr txBox="1"/>
          <p:nvPr/>
        </p:nvSpPr>
        <p:spPr>
          <a:xfrm>
            <a:off x="3621024" y="10451592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5FAFF"/>
                </a:solidFill>
                <a:latin typeface="Aptos"/>
              </a:rPr>
              <a:t>02</a:t>
            </a:r>
          </a:p>
        </p:txBody>
      </p:sp>
      <p:sp>
        <p:nvSpPr>
          <p:cNvPr id="52" name="!!S5_flowtitle1"/>
          <p:cNvSpPr txBox="1"/>
          <p:nvPr/>
        </p:nvSpPr>
        <p:spPr>
          <a:xfrm>
            <a:off x="4133088" y="10360152"/>
            <a:ext cx="168249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F5FAFF"/>
                </a:solidFill>
                <a:latin typeface="Aptos"/>
              </a:rPr>
              <a:t>OPI</a:t>
            </a:r>
          </a:p>
        </p:txBody>
      </p:sp>
      <p:sp>
        <p:nvSpPr>
          <p:cNvPr id="53" name="!!S5_flowskill1"/>
          <p:cNvSpPr txBox="1"/>
          <p:nvPr/>
        </p:nvSpPr>
        <p:spPr>
          <a:xfrm>
            <a:off x="3611880" y="10908791"/>
            <a:ext cx="222199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9A81FF"/>
                </a:solidFill>
                <a:latin typeface="Aptos"/>
              </a:rPr>
              <a:t>Oppimiskyky</a:t>
            </a:r>
          </a:p>
        </p:txBody>
      </p:sp>
      <p:sp>
        <p:nvSpPr>
          <p:cNvPr id="54" name="!!S5_flowdesc1"/>
          <p:cNvSpPr txBox="1"/>
          <p:nvPr/>
        </p:nvSpPr>
        <p:spPr>
          <a:xfrm>
            <a:off x="3602736" y="11292840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C1D1EC"/>
                </a:solidFill>
                <a:latin typeface="Aptos"/>
              </a:rPr>
              <a:t>Mitä minun pitää ymmärtää?</a:t>
            </a:r>
          </a:p>
        </p:txBody>
      </p:sp>
      <p:cxnSp>
        <p:nvCxnSpPr>
          <p:cNvPr id="55" name="!!S5_link1"/>
          <p:cNvCxnSpPr/>
          <p:nvPr/>
        </p:nvCxnSpPr>
        <p:spPr>
          <a:xfrm>
            <a:off x="5989320" y="11128248"/>
            <a:ext cx="219456" cy="0"/>
          </a:xfrm>
          <a:prstGeom prst="line">
            <a:avLst/>
          </a:prstGeom>
          <a:ln w="25400">
            <a:solidFill>
              <a:srgbClr val="5D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!!S5_flowcard2"/>
          <p:cNvSpPr/>
          <p:nvPr/>
        </p:nvSpPr>
        <p:spPr>
          <a:xfrm>
            <a:off x="6236208" y="10204704"/>
            <a:ext cx="2560320" cy="1865376"/>
          </a:xfrm>
          <a:prstGeom prst="roundRect">
            <a:avLst>
              <a:gd name="adj" fmla="val 13000"/>
            </a:avLst>
          </a:prstGeom>
          <a:solidFill>
            <a:srgbClr val="102755">
              <a:alpha val="92000"/>
            </a:srgbClr>
          </a:solidFill>
          <a:ln w="13970">
            <a:solidFill>
              <a:srgbClr val="5DE5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!!S5_floworb2"/>
          <p:cNvSpPr/>
          <p:nvPr/>
        </p:nvSpPr>
        <p:spPr>
          <a:xfrm>
            <a:off x="6409944" y="10369296"/>
            <a:ext cx="429768" cy="429768"/>
          </a:xfrm>
          <a:prstGeom prst="ellipse">
            <a:avLst/>
          </a:prstGeom>
          <a:solidFill>
            <a:srgbClr val="11315D">
              <a:alpha val="88000"/>
            </a:srgbClr>
          </a:solidFill>
          <a:ln w="20955">
            <a:solidFill>
              <a:srgbClr val="5D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!!S5_flownum2"/>
          <p:cNvSpPr txBox="1"/>
          <p:nvPr/>
        </p:nvSpPr>
        <p:spPr>
          <a:xfrm>
            <a:off x="6437376" y="10451592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5FAFF"/>
                </a:solidFill>
                <a:latin typeface="Aptos"/>
              </a:rPr>
              <a:t>03</a:t>
            </a:r>
          </a:p>
        </p:txBody>
      </p:sp>
      <p:sp>
        <p:nvSpPr>
          <p:cNvPr id="59" name="!!S5_flowtitle2"/>
          <p:cNvSpPr txBox="1"/>
          <p:nvPr/>
        </p:nvSpPr>
        <p:spPr>
          <a:xfrm>
            <a:off x="6949440" y="10360152"/>
            <a:ext cx="168249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F5FAFF"/>
                </a:solidFill>
                <a:latin typeface="Aptos"/>
              </a:rPr>
              <a:t>KOKEILE</a:t>
            </a:r>
          </a:p>
        </p:txBody>
      </p:sp>
      <p:sp>
        <p:nvSpPr>
          <p:cNvPr id="60" name="!!S5_flowskill2"/>
          <p:cNvSpPr txBox="1"/>
          <p:nvPr/>
        </p:nvSpPr>
        <p:spPr>
          <a:xfrm>
            <a:off x="6428232" y="10908791"/>
            <a:ext cx="222199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DE5FF"/>
                </a:solidFill>
                <a:latin typeface="Aptos"/>
              </a:rPr>
              <a:t>Sopeutumiskyky</a:t>
            </a:r>
          </a:p>
        </p:txBody>
      </p:sp>
      <p:sp>
        <p:nvSpPr>
          <p:cNvPr id="61" name="!!S5_flowdesc2"/>
          <p:cNvSpPr txBox="1"/>
          <p:nvPr/>
        </p:nvSpPr>
        <p:spPr>
          <a:xfrm>
            <a:off x="6419088" y="11292840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C1D1EC"/>
                </a:solidFill>
                <a:latin typeface="Aptos"/>
              </a:rPr>
              <a:t>Mikä toimii käytännössä?</a:t>
            </a:r>
          </a:p>
        </p:txBody>
      </p:sp>
      <p:cxnSp>
        <p:nvCxnSpPr>
          <p:cNvPr id="62" name="!!S5_link2"/>
          <p:cNvCxnSpPr/>
          <p:nvPr/>
        </p:nvCxnSpPr>
        <p:spPr>
          <a:xfrm>
            <a:off x="8805672" y="11128248"/>
            <a:ext cx="219456" cy="0"/>
          </a:xfrm>
          <a:prstGeom prst="line">
            <a:avLst/>
          </a:prstGeom>
          <a:ln w="25400">
            <a:solidFill>
              <a:srgbClr val="5D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!!S5_flowcard3"/>
          <p:cNvSpPr/>
          <p:nvPr/>
        </p:nvSpPr>
        <p:spPr>
          <a:xfrm>
            <a:off x="9052560" y="10204704"/>
            <a:ext cx="2560320" cy="1865376"/>
          </a:xfrm>
          <a:prstGeom prst="roundRect">
            <a:avLst>
              <a:gd name="adj" fmla="val 13000"/>
            </a:avLst>
          </a:prstGeom>
          <a:solidFill>
            <a:srgbClr val="102755">
              <a:alpha val="92000"/>
            </a:srgbClr>
          </a:solidFill>
          <a:ln w="13970">
            <a:solidFill>
              <a:srgbClr val="9A81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!!S5_floworb3"/>
          <p:cNvSpPr/>
          <p:nvPr/>
        </p:nvSpPr>
        <p:spPr>
          <a:xfrm>
            <a:off x="9226296" y="10369296"/>
            <a:ext cx="429768" cy="429768"/>
          </a:xfrm>
          <a:prstGeom prst="ellipse">
            <a:avLst/>
          </a:prstGeom>
          <a:solidFill>
            <a:srgbClr val="11315D">
              <a:alpha val="88000"/>
            </a:srgbClr>
          </a:solidFill>
          <a:ln w="20955">
            <a:solidFill>
              <a:srgbClr val="9A8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!!S5_flownum3"/>
          <p:cNvSpPr txBox="1"/>
          <p:nvPr/>
        </p:nvSpPr>
        <p:spPr>
          <a:xfrm>
            <a:off x="9253728" y="10451592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5FAFF"/>
                </a:solidFill>
                <a:latin typeface="Aptos"/>
              </a:rPr>
              <a:t>04</a:t>
            </a:r>
          </a:p>
        </p:txBody>
      </p:sp>
      <p:sp>
        <p:nvSpPr>
          <p:cNvPr id="66" name="!!S5_flowtitle3"/>
          <p:cNvSpPr txBox="1"/>
          <p:nvPr/>
        </p:nvSpPr>
        <p:spPr>
          <a:xfrm>
            <a:off x="9765792" y="10360152"/>
            <a:ext cx="168249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F5FAFF"/>
                </a:solidFill>
                <a:latin typeface="Aptos"/>
              </a:rPr>
              <a:t>JAA</a:t>
            </a:r>
          </a:p>
        </p:txBody>
      </p:sp>
      <p:sp>
        <p:nvSpPr>
          <p:cNvPr id="67" name="!!S5_flowskill3"/>
          <p:cNvSpPr txBox="1"/>
          <p:nvPr/>
        </p:nvSpPr>
        <p:spPr>
          <a:xfrm>
            <a:off x="9244584" y="10908791"/>
            <a:ext cx="222199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9A81FF"/>
                </a:solidFill>
                <a:latin typeface="Aptos"/>
              </a:rPr>
              <a:t>Vuorovaikutus</a:t>
            </a:r>
          </a:p>
        </p:txBody>
      </p:sp>
      <p:sp>
        <p:nvSpPr>
          <p:cNvPr id="68" name="!!S5_flowdesc3"/>
          <p:cNvSpPr txBox="1"/>
          <p:nvPr/>
        </p:nvSpPr>
        <p:spPr>
          <a:xfrm>
            <a:off x="9235440" y="11292840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C1D1EC"/>
                </a:solidFill>
                <a:latin typeface="Aptos"/>
              </a:rPr>
              <a:t>Miten autan muita?</a:t>
            </a:r>
          </a:p>
        </p:txBody>
      </p:sp>
      <p:sp>
        <p:nvSpPr>
          <p:cNvPr id="69" name="!!S5_takeaway"/>
          <p:cNvSpPr txBox="1"/>
          <p:nvPr/>
        </p:nvSpPr>
        <p:spPr>
          <a:xfrm>
            <a:off x="649224" y="12600432"/>
            <a:ext cx="106070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F5FAFF"/>
                </a:solidFill>
                <a:latin typeface="Aptos"/>
              </a:rPr>
              <a:t>Sama muutos. Neljä toisiaan vahvistavaa metataitoa.</a:t>
            </a:r>
          </a:p>
        </p:txBody>
      </p:sp>
      <p:sp>
        <p:nvSpPr>
          <p:cNvPr id="70" name="!!Progress_4"/>
          <p:cNvSpPr txBox="1"/>
          <p:nvPr/>
        </p:nvSpPr>
        <p:spPr>
          <a:xfrm>
            <a:off x="10561320" y="6318504"/>
            <a:ext cx="96926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8197BC"/>
                </a:solidFill>
                <a:latin typeface="Aptos"/>
              </a:rPr>
              <a:t>02  /  06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4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2B2C3-EAB5-F378-4DB9-49C4C7D4E9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98761C-7AA5-F223-F7C5-7E72780465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670BF9-A583-F9D4-B58E-717D479BD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1460"/>
            <a:ext cx="12192000" cy="9525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7A05619-BDAA-0BF9-DE1C-2F508CC86F81}"/>
              </a:ext>
            </a:extLst>
          </p:cNvPr>
          <p:cNvSpPr/>
          <p:nvPr/>
        </p:nvSpPr>
        <p:spPr>
          <a:xfrm>
            <a:off x="-16042" y="0"/>
            <a:ext cx="12192000" cy="9601200"/>
          </a:xfrm>
          <a:prstGeom prst="rect">
            <a:avLst/>
          </a:prstGeom>
          <a:solidFill>
            <a:srgbClr val="00112E">
              <a:alpha val="70000"/>
            </a:srgb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601994-5DA9-458C-D842-F7E5D8BF9729}"/>
              </a:ext>
            </a:extLst>
          </p:cNvPr>
          <p:cNvSpPr txBox="1"/>
          <p:nvPr/>
        </p:nvSpPr>
        <p:spPr>
          <a:xfrm>
            <a:off x="3837710" y="-6289824"/>
            <a:ext cx="43780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6000" dirty="0">
                <a:solidFill>
                  <a:schemeClr val="bg1"/>
                </a:solidFill>
                <a:latin typeface="Abadi" panose="020B0604020104020204" pitchFamily="34" charset="0"/>
              </a:rPr>
              <a:t>Metataidot</a:t>
            </a:r>
            <a:endParaRPr lang="en-US" sz="60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7D38E0-99D5-8AA6-39B9-3BC120895EE0}"/>
              </a:ext>
            </a:extLst>
          </p:cNvPr>
          <p:cNvSpPr txBox="1"/>
          <p:nvPr/>
        </p:nvSpPr>
        <p:spPr>
          <a:xfrm>
            <a:off x="2981159" y="-5358407"/>
            <a:ext cx="60590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2800" dirty="0">
                <a:solidFill>
                  <a:schemeClr val="bg1"/>
                </a:solidFill>
                <a:latin typeface="Abadi" panose="020B0604020104020204" pitchFamily="34" charset="0"/>
              </a:rPr>
              <a:t>työpaikan piilotettu helmi</a:t>
            </a:r>
            <a:endParaRPr lang="en-US" sz="28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421AF6-25FB-FE4E-8022-54DD092AC744}"/>
              </a:ext>
            </a:extLst>
          </p:cNvPr>
          <p:cNvSpPr txBox="1"/>
          <p:nvPr/>
        </p:nvSpPr>
        <p:spPr>
          <a:xfrm>
            <a:off x="581892" y="-4270475"/>
            <a:ext cx="3962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Metataitojen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tarkoitus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on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tukea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aktivoida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ja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tehostaa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muiden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taitojen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käyttöä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sekä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auttaa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ihmistä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sopeutumaan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jatkuvaan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muutokseen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. Ne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eivät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liity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mihinkään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tiettyyn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ammattiin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tai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työn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sisältöön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vaan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ne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ovat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"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taitoja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taitojen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taustalla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" –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eli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taitoja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joiden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avulla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opimme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käsittelemme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tietoa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ja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toimimme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muiden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kanssa</a:t>
            </a:r>
            <a:endParaRPr lang="en-US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137EF0-2881-B99D-315F-C9FAA28C1F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4292" y="-4674254"/>
            <a:ext cx="7333671" cy="43405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C5AA270-D42F-D913-C90D-18F4ABC422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" y="9525000"/>
            <a:ext cx="12185522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FE9D2B4-C2A2-B917-9A4E-4CC942885353}"/>
              </a:ext>
            </a:extLst>
          </p:cNvPr>
          <p:cNvSpPr txBox="1"/>
          <p:nvPr/>
        </p:nvSpPr>
        <p:spPr>
          <a:xfrm>
            <a:off x="5063959" y="8670787"/>
            <a:ext cx="18934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4000" dirty="0">
                <a:solidFill>
                  <a:schemeClr val="bg1"/>
                </a:solidFill>
              </a:rPr>
              <a:t>KIITOS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14" name="!!S5_kicker"/>
          <p:cNvSpPr txBox="1"/>
          <p:nvPr/>
        </p:nvSpPr>
        <p:spPr>
          <a:xfrm>
            <a:off x="594360" y="292608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5DE5FF"/>
                </a:solidFill>
                <a:latin typeface="Aptos"/>
              </a:rPr>
              <a:t>M E T A T A I D O T  /  03</a:t>
            </a:r>
          </a:p>
        </p:txBody>
      </p:sp>
      <p:sp>
        <p:nvSpPr>
          <p:cNvPr id="15" name="!!S5_title"/>
          <p:cNvSpPr txBox="1"/>
          <p:nvPr/>
        </p:nvSpPr>
        <p:spPr>
          <a:xfrm>
            <a:off x="594360" y="621792"/>
            <a:ext cx="107899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500" b="1">
                <a:solidFill>
                  <a:srgbClr val="F5FAFF"/>
                </a:solidFill>
                <a:latin typeface="Aptos"/>
              </a:rPr>
              <a:t>Metataidot näkyvät teoissa</a:t>
            </a:r>
          </a:p>
        </p:txBody>
      </p:sp>
      <p:sp>
        <p:nvSpPr>
          <p:cNvPr id="16" name="!!S5_subtitle"/>
          <p:cNvSpPr txBox="1"/>
          <p:nvPr/>
        </p:nvSpPr>
        <p:spPr>
          <a:xfrm>
            <a:off x="621792" y="1344168"/>
            <a:ext cx="1069848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C1D1EC"/>
                </a:solidFill>
                <a:latin typeface="Aptos"/>
              </a:rPr>
              <a:t>Esimerkki: tiimi ottaa käyttöön uuden digitaalisen työkalun.</a:t>
            </a:r>
          </a:p>
        </p:txBody>
      </p:sp>
      <p:cxnSp>
        <p:nvCxnSpPr>
          <p:cNvPr id="17" name="!!S5_divider"/>
          <p:cNvCxnSpPr/>
          <p:nvPr/>
        </p:nvCxnSpPr>
        <p:spPr>
          <a:xfrm>
            <a:off x="612648" y="1892807"/>
            <a:ext cx="10954512" cy="0"/>
          </a:xfrm>
          <a:prstGeom prst="line">
            <a:avLst/>
          </a:prstGeom>
          <a:ln w="12700">
            <a:solidFill>
              <a:srgbClr val="34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S5_context_panel"/>
          <p:cNvSpPr/>
          <p:nvPr/>
        </p:nvSpPr>
        <p:spPr>
          <a:xfrm>
            <a:off x="612648" y="2176272"/>
            <a:ext cx="10972800" cy="749808"/>
          </a:xfrm>
          <a:prstGeom prst="roundRect">
            <a:avLst>
              <a:gd name="adj" fmla="val 13000"/>
            </a:avLst>
          </a:prstGeom>
          <a:solidFill>
            <a:srgbClr val="132C61">
              <a:alpha val="89000"/>
            </a:srgbClr>
          </a:solidFill>
          <a:ln w="13970">
            <a:solidFill>
              <a:srgbClr val="9A81FF">
                <a:alpha val="5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!!S5_context_tag"/>
          <p:cNvSpPr txBox="1"/>
          <p:nvPr/>
        </p:nvSpPr>
        <p:spPr>
          <a:xfrm>
            <a:off x="841248" y="2377440"/>
            <a:ext cx="1133856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5DE5FF"/>
                </a:solidFill>
                <a:latin typeface="Aptos"/>
              </a:rPr>
              <a:t>TILANNE</a:t>
            </a:r>
          </a:p>
        </p:txBody>
      </p:sp>
      <p:sp>
        <p:nvSpPr>
          <p:cNvPr id="20" name="!!S5_context"/>
          <p:cNvSpPr txBox="1"/>
          <p:nvPr/>
        </p:nvSpPr>
        <p:spPr>
          <a:xfrm>
            <a:off x="1975104" y="2331720"/>
            <a:ext cx="9079992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5FAFF"/>
                </a:solidFill>
                <a:latin typeface="Aptos"/>
              </a:rPr>
              <a:t>Uudet työkalut muuttavat arjen toimintatapoja.</a:t>
            </a:r>
          </a:p>
        </p:txBody>
      </p:sp>
      <p:sp>
        <p:nvSpPr>
          <p:cNvPr id="21" name="!!S5_flowcard0"/>
          <p:cNvSpPr/>
          <p:nvPr/>
        </p:nvSpPr>
        <p:spPr>
          <a:xfrm>
            <a:off x="603504" y="3346704"/>
            <a:ext cx="2560320" cy="1865376"/>
          </a:xfrm>
          <a:prstGeom prst="roundRect">
            <a:avLst>
              <a:gd name="adj" fmla="val 13000"/>
            </a:avLst>
          </a:prstGeom>
          <a:solidFill>
            <a:srgbClr val="102755">
              <a:alpha val="92000"/>
            </a:srgbClr>
          </a:solidFill>
          <a:ln w="13970">
            <a:solidFill>
              <a:srgbClr val="5DE5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!!S5_floworb0"/>
          <p:cNvSpPr/>
          <p:nvPr/>
        </p:nvSpPr>
        <p:spPr>
          <a:xfrm>
            <a:off x="777240" y="3511296"/>
            <a:ext cx="429768" cy="429768"/>
          </a:xfrm>
          <a:prstGeom prst="ellipse">
            <a:avLst/>
          </a:prstGeom>
          <a:solidFill>
            <a:srgbClr val="11315D">
              <a:alpha val="88000"/>
            </a:srgbClr>
          </a:solidFill>
          <a:ln w="20955">
            <a:solidFill>
              <a:srgbClr val="5D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!!S5_flownum0"/>
          <p:cNvSpPr txBox="1"/>
          <p:nvPr/>
        </p:nvSpPr>
        <p:spPr>
          <a:xfrm>
            <a:off x="804672" y="3593592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5FAFF"/>
                </a:solidFill>
                <a:latin typeface="Aptos"/>
              </a:rPr>
              <a:t>01</a:t>
            </a:r>
          </a:p>
        </p:txBody>
      </p:sp>
      <p:sp>
        <p:nvSpPr>
          <p:cNvPr id="24" name="!!S5_flowtitle0"/>
          <p:cNvSpPr txBox="1"/>
          <p:nvPr/>
        </p:nvSpPr>
        <p:spPr>
          <a:xfrm>
            <a:off x="1316736" y="3502152"/>
            <a:ext cx="168249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F5FAFF"/>
                </a:solidFill>
                <a:latin typeface="Aptos"/>
              </a:rPr>
              <a:t>HUOMAA</a:t>
            </a:r>
          </a:p>
        </p:txBody>
      </p:sp>
      <p:sp>
        <p:nvSpPr>
          <p:cNvPr id="25" name="!!S5_flowskill0"/>
          <p:cNvSpPr txBox="1"/>
          <p:nvPr/>
        </p:nvSpPr>
        <p:spPr>
          <a:xfrm>
            <a:off x="795528" y="4050791"/>
            <a:ext cx="222199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DE5FF"/>
                </a:solidFill>
                <a:latin typeface="Aptos"/>
              </a:rPr>
              <a:t>Kriittinen ajattelu</a:t>
            </a:r>
          </a:p>
        </p:txBody>
      </p:sp>
      <p:sp>
        <p:nvSpPr>
          <p:cNvPr id="26" name="!!S5_flowdesc0"/>
          <p:cNvSpPr txBox="1"/>
          <p:nvPr/>
        </p:nvSpPr>
        <p:spPr>
          <a:xfrm>
            <a:off x="786384" y="4434840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C1D1EC"/>
                </a:solidFill>
                <a:latin typeface="Aptos"/>
              </a:rPr>
              <a:t>Mikä oikeasti muuttuu?</a:t>
            </a:r>
          </a:p>
        </p:txBody>
      </p:sp>
      <p:cxnSp>
        <p:nvCxnSpPr>
          <p:cNvPr id="27" name="!!S5_link0"/>
          <p:cNvCxnSpPr/>
          <p:nvPr/>
        </p:nvCxnSpPr>
        <p:spPr>
          <a:xfrm>
            <a:off x="3172968" y="4270248"/>
            <a:ext cx="219456" cy="0"/>
          </a:xfrm>
          <a:prstGeom prst="line">
            <a:avLst/>
          </a:prstGeom>
          <a:ln w="25400">
            <a:solidFill>
              <a:srgbClr val="5D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!!S5_flowcard1"/>
          <p:cNvSpPr/>
          <p:nvPr/>
        </p:nvSpPr>
        <p:spPr>
          <a:xfrm>
            <a:off x="3419856" y="3346704"/>
            <a:ext cx="2560320" cy="1865376"/>
          </a:xfrm>
          <a:prstGeom prst="roundRect">
            <a:avLst>
              <a:gd name="adj" fmla="val 13000"/>
            </a:avLst>
          </a:prstGeom>
          <a:solidFill>
            <a:srgbClr val="102755">
              <a:alpha val="92000"/>
            </a:srgbClr>
          </a:solidFill>
          <a:ln w="13970">
            <a:solidFill>
              <a:srgbClr val="9A81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!!S5_floworb1"/>
          <p:cNvSpPr/>
          <p:nvPr/>
        </p:nvSpPr>
        <p:spPr>
          <a:xfrm>
            <a:off x="3593592" y="3511296"/>
            <a:ext cx="429768" cy="429768"/>
          </a:xfrm>
          <a:prstGeom prst="ellipse">
            <a:avLst/>
          </a:prstGeom>
          <a:solidFill>
            <a:srgbClr val="11315D">
              <a:alpha val="88000"/>
            </a:srgbClr>
          </a:solidFill>
          <a:ln w="20955">
            <a:solidFill>
              <a:srgbClr val="9A8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!!S5_flownum1"/>
          <p:cNvSpPr txBox="1"/>
          <p:nvPr/>
        </p:nvSpPr>
        <p:spPr>
          <a:xfrm>
            <a:off x="3621024" y="3593592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5FAFF"/>
                </a:solidFill>
                <a:latin typeface="Aptos"/>
              </a:rPr>
              <a:t>02</a:t>
            </a:r>
          </a:p>
        </p:txBody>
      </p:sp>
      <p:sp>
        <p:nvSpPr>
          <p:cNvPr id="31" name="!!S5_flowtitle1"/>
          <p:cNvSpPr txBox="1"/>
          <p:nvPr/>
        </p:nvSpPr>
        <p:spPr>
          <a:xfrm>
            <a:off x="4133088" y="3502152"/>
            <a:ext cx="168249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F5FAFF"/>
                </a:solidFill>
                <a:latin typeface="Aptos"/>
              </a:rPr>
              <a:t>OPI</a:t>
            </a:r>
          </a:p>
        </p:txBody>
      </p:sp>
      <p:sp>
        <p:nvSpPr>
          <p:cNvPr id="32" name="!!S5_flowskill1"/>
          <p:cNvSpPr txBox="1"/>
          <p:nvPr/>
        </p:nvSpPr>
        <p:spPr>
          <a:xfrm>
            <a:off x="3611880" y="4050791"/>
            <a:ext cx="222199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9A81FF"/>
                </a:solidFill>
                <a:latin typeface="Aptos"/>
              </a:rPr>
              <a:t>Oppimiskyky</a:t>
            </a:r>
          </a:p>
        </p:txBody>
      </p:sp>
      <p:sp>
        <p:nvSpPr>
          <p:cNvPr id="33" name="!!S5_flowdesc1"/>
          <p:cNvSpPr txBox="1"/>
          <p:nvPr/>
        </p:nvSpPr>
        <p:spPr>
          <a:xfrm>
            <a:off x="3602736" y="4434840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C1D1EC"/>
                </a:solidFill>
                <a:latin typeface="Aptos"/>
              </a:rPr>
              <a:t>Mitä minun pitää ymmärtää?</a:t>
            </a:r>
          </a:p>
        </p:txBody>
      </p:sp>
      <p:cxnSp>
        <p:nvCxnSpPr>
          <p:cNvPr id="34" name="!!S5_link1"/>
          <p:cNvCxnSpPr/>
          <p:nvPr/>
        </p:nvCxnSpPr>
        <p:spPr>
          <a:xfrm>
            <a:off x="5989320" y="4270248"/>
            <a:ext cx="219456" cy="0"/>
          </a:xfrm>
          <a:prstGeom prst="line">
            <a:avLst/>
          </a:prstGeom>
          <a:ln w="25400">
            <a:solidFill>
              <a:srgbClr val="5D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!!S5_flowcard2"/>
          <p:cNvSpPr/>
          <p:nvPr/>
        </p:nvSpPr>
        <p:spPr>
          <a:xfrm>
            <a:off x="6236208" y="3346704"/>
            <a:ext cx="2560320" cy="1865376"/>
          </a:xfrm>
          <a:prstGeom prst="roundRect">
            <a:avLst>
              <a:gd name="adj" fmla="val 13000"/>
            </a:avLst>
          </a:prstGeom>
          <a:solidFill>
            <a:srgbClr val="102755">
              <a:alpha val="92000"/>
            </a:srgbClr>
          </a:solidFill>
          <a:ln w="13970">
            <a:solidFill>
              <a:srgbClr val="5DE5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!!S5_floworb2"/>
          <p:cNvSpPr/>
          <p:nvPr/>
        </p:nvSpPr>
        <p:spPr>
          <a:xfrm>
            <a:off x="6409944" y="3511296"/>
            <a:ext cx="429768" cy="429768"/>
          </a:xfrm>
          <a:prstGeom prst="ellipse">
            <a:avLst/>
          </a:prstGeom>
          <a:solidFill>
            <a:srgbClr val="11315D">
              <a:alpha val="88000"/>
            </a:srgbClr>
          </a:solidFill>
          <a:ln w="20955">
            <a:solidFill>
              <a:srgbClr val="5D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!!S5_flownum2"/>
          <p:cNvSpPr txBox="1"/>
          <p:nvPr/>
        </p:nvSpPr>
        <p:spPr>
          <a:xfrm>
            <a:off x="6437376" y="3593592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5FAFF"/>
                </a:solidFill>
                <a:latin typeface="Aptos"/>
              </a:rPr>
              <a:t>03</a:t>
            </a:r>
          </a:p>
        </p:txBody>
      </p:sp>
      <p:sp>
        <p:nvSpPr>
          <p:cNvPr id="38" name="!!S5_flowtitle2"/>
          <p:cNvSpPr txBox="1"/>
          <p:nvPr/>
        </p:nvSpPr>
        <p:spPr>
          <a:xfrm>
            <a:off x="6949440" y="3502152"/>
            <a:ext cx="168249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F5FAFF"/>
                </a:solidFill>
                <a:latin typeface="Aptos"/>
              </a:rPr>
              <a:t>KOKEILE</a:t>
            </a:r>
          </a:p>
        </p:txBody>
      </p:sp>
      <p:sp>
        <p:nvSpPr>
          <p:cNvPr id="39" name="!!S5_flowskill2"/>
          <p:cNvSpPr txBox="1"/>
          <p:nvPr/>
        </p:nvSpPr>
        <p:spPr>
          <a:xfrm>
            <a:off x="6428232" y="4050791"/>
            <a:ext cx="222199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DE5FF"/>
                </a:solidFill>
                <a:latin typeface="Aptos"/>
              </a:rPr>
              <a:t>Sopeutumiskyky</a:t>
            </a:r>
          </a:p>
        </p:txBody>
      </p:sp>
      <p:sp>
        <p:nvSpPr>
          <p:cNvPr id="40" name="!!S5_flowdesc2"/>
          <p:cNvSpPr txBox="1"/>
          <p:nvPr/>
        </p:nvSpPr>
        <p:spPr>
          <a:xfrm>
            <a:off x="6419088" y="4434840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C1D1EC"/>
                </a:solidFill>
                <a:latin typeface="Aptos"/>
              </a:rPr>
              <a:t>Mikä toimii käytännössä?</a:t>
            </a:r>
          </a:p>
        </p:txBody>
      </p:sp>
      <p:cxnSp>
        <p:nvCxnSpPr>
          <p:cNvPr id="41" name="!!S5_link2"/>
          <p:cNvCxnSpPr/>
          <p:nvPr/>
        </p:nvCxnSpPr>
        <p:spPr>
          <a:xfrm>
            <a:off x="8805672" y="4270248"/>
            <a:ext cx="219456" cy="0"/>
          </a:xfrm>
          <a:prstGeom prst="line">
            <a:avLst/>
          </a:prstGeom>
          <a:ln w="25400">
            <a:solidFill>
              <a:srgbClr val="5D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!!S5_flowcard3"/>
          <p:cNvSpPr/>
          <p:nvPr/>
        </p:nvSpPr>
        <p:spPr>
          <a:xfrm>
            <a:off x="9052560" y="3346704"/>
            <a:ext cx="2560320" cy="1865376"/>
          </a:xfrm>
          <a:prstGeom prst="roundRect">
            <a:avLst>
              <a:gd name="adj" fmla="val 13000"/>
            </a:avLst>
          </a:prstGeom>
          <a:solidFill>
            <a:srgbClr val="102755">
              <a:alpha val="92000"/>
            </a:srgbClr>
          </a:solidFill>
          <a:ln w="13970">
            <a:solidFill>
              <a:srgbClr val="9A81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!!S5_floworb3"/>
          <p:cNvSpPr/>
          <p:nvPr/>
        </p:nvSpPr>
        <p:spPr>
          <a:xfrm>
            <a:off x="9226296" y="3511296"/>
            <a:ext cx="429768" cy="429768"/>
          </a:xfrm>
          <a:prstGeom prst="ellipse">
            <a:avLst/>
          </a:prstGeom>
          <a:solidFill>
            <a:srgbClr val="11315D">
              <a:alpha val="88000"/>
            </a:srgbClr>
          </a:solidFill>
          <a:ln w="20955">
            <a:solidFill>
              <a:srgbClr val="9A8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!!S5_flownum3"/>
          <p:cNvSpPr txBox="1"/>
          <p:nvPr/>
        </p:nvSpPr>
        <p:spPr>
          <a:xfrm>
            <a:off x="9253728" y="3593592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5FAFF"/>
                </a:solidFill>
                <a:latin typeface="Aptos"/>
              </a:rPr>
              <a:t>04</a:t>
            </a:r>
          </a:p>
        </p:txBody>
      </p:sp>
      <p:sp>
        <p:nvSpPr>
          <p:cNvPr id="45" name="!!S5_flowtitle3"/>
          <p:cNvSpPr txBox="1"/>
          <p:nvPr/>
        </p:nvSpPr>
        <p:spPr>
          <a:xfrm>
            <a:off x="9765792" y="3502152"/>
            <a:ext cx="168249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F5FAFF"/>
                </a:solidFill>
                <a:latin typeface="Aptos"/>
              </a:rPr>
              <a:t>JAA</a:t>
            </a:r>
          </a:p>
        </p:txBody>
      </p:sp>
      <p:sp>
        <p:nvSpPr>
          <p:cNvPr id="46" name="!!S5_flowskill3"/>
          <p:cNvSpPr txBox="1"/>
          <p:nvPr/>
        </p:nvSpPr>
        <p:spPr>
          <a:xfrm>
            <a:off x="9244584" y="4050791"/>
            <a:ext cx="222199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9A81FF"/>
                </a:solidFill>
                <a:latin typeface="Aptos"/>
              </a:rPr>
              <a:t>Vuorovaikutus</a:t>
            </a:r>
          </a:p>
        </p:txBody>
      </p:sp>
      <p:sp>
        <p:nvSpPr>
          <p:cNvPr id="47" name="!!S5_flowdesc3"/>
          <p:cNvSpPr txBox="1"/>
          <p:nvPr/>
        </p:nvSpPr>
        <p:spPr>
          <a:xfrm>
            <a:off x="9235440" y="4434840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C1D1EC"/>
                </a:solidFill>
                <a:latin typeface="Aptos"/>
              </a:rPr>
              <a:t>Miten autan muita?</a:t>
            </a:r>
          </a:p>
        </p:txBody>
      </p:sp>
      <p:sp>
        <p:nvSpPr>
          <p:cNvPr id="48" name="!!S5_takeaway"/>
          <p:cNvSpPr txBox="1"/>
          <p:nvPr/>
        </p:nvSpPr>
        <p:spPr>
          <a:xfrm>
            <a:off x="649224" y="5742432"/>
            <a:ext cx="106070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F5FAFF"/>
                </a:solidFill>
                <a:latin typeface="Aptos"/>
              </a:rPr>
              <a:t>Sama muutos. Neljä toisiaan vahvistavaa metataitoa.</a:t>
            </a:r>
          </a:p>
        </p:txBody>
      </p:sp>
      <p:sp>
        <p:nvSpPr>
          <p:cNvPr id="49" name="!!S4_kicker"/>
          <p:cNvSpPr txBox="1"/>
          <p:nvPr/>
        </p:nvSpPr>
        <p:spPr>
          <a:xfrm>
            <a:off x="594360" y="-6565392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5DE5FF"/>
                </a:solidFill>
                <a:latin typeface="Aptos"/>
              </a:rPr>
              <a:t>M E T A T A I D O T  /  02</a:t>
            </a:r>
          </a:p>
        </p:txBody>
      </p:sp>
      <p:sp>
        <p:nvSpPr>
          <p:cNvPr id="50" name="!!S4_title"/>
          <p:cNvSpPr txBox="1"/>
          <p:nvPr/>
        </p:nvSpPr>
        <p:spPr>
          <a:xfrm>
            <a:off x="594360" y="-6236208"/>
            <a:ext cx="107899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500" b="1">
                <a:solidFill>
                  <a:srgbClr val="F5FAFF"/>
                </a:solidFill>
                <a:latin typeface="Aptos"/>
              </a:rPr>
              <a:t>Miksi metataidot ratkaisevat?</a:t>
            </a:r>
          </a:p>
        </p:txBody>
      </p:sp>
      <p:sp>
        <p:nvSpPr>
          <p:cNvPr id="51" name="!!S4_subtitle"/>
          <p:cNvSpPr txBox="1"/>
          <p:nvPr/>
        </p:nvSpPr>
        <p:spPr>
          <a:xfrm>
            <a:off x="621792" y="-5513832"/>
            <a:ext cx="1069848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C1D1EC"/>
                </a:solidFill>
                <a:latin typeface="Aptos"/>
              </a:rPr>
              <a:t>Kun työn sisältö muuttuu, kyky oppia ja toimia auttaa eteenpäin.</a:t>
            </a:r>
          </a:p>
        </p:txBody>
      </p:sp>
      <p:cxnSp>
        <p:nvCxnSpPr>
          <p:cNvPr id="52" name="!!S4_divider"/>
          <p:cNvCxnSpPr/>
          <p:nvPr/>
        </p:nvCxnSpPr>
        <p:spPr>
          <a:xfrm>
            <a:off x="612648" y="-4965193"/>
            <a:ext cx="10954512" cy="0"/>
          </a:xfrm>
          <a:prstGeom prst="line">
            <a:avLst/>
          </a:prstGeom>
          <a:ln w="12700">
            <a:solidFill>
              <a:srgbClr val="34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!!S4_card0"/>
          <p:cNvSpPr/>
          <p:nvPr/>
        </p:nvSpPr>
        <p:spPr>
          <a:xfrm>
            <a:off x="594360" y="-4654296"/>
            <a:ext cx="3557016" cy="3044952"/>
          </a:xfrm>
          <a:prstGeom prst="roundRect">
            <a:avLst>
              <a:gd name="adj" fmla="val 13000"/>
            </a:avLst>
          </a:prstGeom>
          <a:solidFill>
            <a:srgbClr val="0B2451">
              <a:alpha val="86000"/>
            </a:srgbClr>
          </a:solidFill>
          <a:ln w="13970">
            <a:solidFill>
              <a:srgbClr val="5DE5FF">
                <a:alpha val="7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!!S4_topline0"/>
          <p:cNvSpPr/>
          <p:nvPr/>
        </p:nvSpPr>
        <p:spPr>
          <a:xfrm>
            <a:off x="804672" y="-4453128"/>
            <a:ext cx="969264" cy="50292"/>
          </a:xfrm>
          <a:prstGeom prst="rect">
            <a:avLst/>
          </a:prstGeom>
          <a:solidFill>
            <a:srgbClr val="5DE5FF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!!S4_num0"/>
          <p:cNvSpPr txBox="1"/>
          <p:nvPr/>
        </p:nvSpPr>
        <p:spPr>
          <a:xfrm>
            <a:off x="832104" y="-4169664"/>
            <a:ext cx="10972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5DE5FF"/>
                </a:solidFill>
                <a:latin typeface="Aptos"/>
              </a:rPr>
              <a:t>01</a:t>
            </a:r>
          </a:p>
        </p:txBody>
      </p:sp>
      <p:sp>
        <p:nvSpPr>
          <p:cNvPr id="56" name="!!S4_word0"/>
          <p:cNvSpPr txBox="1"/>
          <p:nvPr/>
        </p:nvSpPr>
        <p:spPr>
          <a:xfrm>
            <a:off x="832104" y="-3429000"/>
            <a:ext cx="3081528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5FAFF"/>
                </a:solidFill>
                <a:latin typeface="Aptos"/>
              </a:rPr>
              <a:t>MUUTOS</a:t>
            </a:r>
          </a:p>
        </p:txBody>
      </p:sp>
      <p:sp>
        <p:nvSpPr>
          <p:cNvPr id="57" name="!!S4_body0"/>
          <p:cNvSpPr txBox="1"/>
          <p:nvPr/>
        </p:nvSpPr>
        <p:spPr>
          <a:xfrm>
            <a:off x="832104" y="-2816352"/>
            <a:ext cx="3054096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>
                <a:solidFill>
                  <a:srgbClr val="C1D1EC"/>
                </a:solidFill>
                <a:latin typeface="Aptos"/>
              </a:rPr>
              <a:t>Sopeudumme uusiin työkaluihin ja toimintatapoihin.</a:t>
            </a:r>
          </a:p>
        </p:txBody>
      </p:sp>
      <p:sp>
        <p:nvSpPr>
          <p:cNvPr id="58" name="!!S4_card1"/>
          <p:cNvSpPr/>
          <p:nvPr/>
        </p:nvSpPr>
        <p:spPr>
          <a:xfrm>
            <a:off x="4407408" y="-4654296"/>
            <a:ext cx="3557016" cy="3044952"/>
          </a:xfrm>
          <a:prstGeom prst="roundRect">
            <a:avLst>
              <a:gd name="adj" fmla="val 13000"/>
            </a:avLst>
          </a:prstGeom>
          <a:solidFill>
            <a:srgbClr val="0B2451">
              <a:alpha val="86000"/>
            </a:srgbClr>
          </a:solidFill>
          <a:ln w="13970">
            <a:solidFill>
              <a:srgbClr val="9A81FF">
                <a:alpha val="7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!!S4_topline1"/>
          <p:cNvSpPr/>
          <p:nvPr/>
        </p:nvSpPr>
        <p:spPr>
          <a:xfrm>
            <a:off x="4617720" y="-4453128"/>
            <a:ext cx="969264" cy="50292"/>
          </a:xfrm>
          <a:prstGeom prst="rect">
            <a:avLst/>
          </a:prstGeom>
          <a:solidFill>
            <a:srgbClr val="9A81FF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!!S4_num1"/>
          <p:cNvSpPr txBox="1"/>
          <p:nvPr/>
        </p:nvSpPr>
        <p:spPr>
          <a:xfrm>
            <a:off x="4645152" y="-4169664"/>
            <a:ext cx="10972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9A81FF"/>
                </a:solidFill>
                <a:latin typeface="Aptos"/>
              </a:rPr>
              <a:t>02</a:t>
            </a:r>
          </a:p>
        </p:txBody>
      </p:sp>
      <p:sp>
        <p:nvSpPr>
          <p:cNvPr id="61" name="!!S4_word1"/>
          <p:cNvSpPr txBox="1"/>
          <p:nvPr/>
        </p:nvSpPr>
        <p:spPr>
          <a:xfrm>
            <a:off x="4645152" y="-3429000"/>
            <a:ext cx="3081528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5FAFF"/>
                </a:solidFill>
                <a:latin typeface="Aptos"/>
              </a:rPr>
              <a:t>OPPIMINEN</a:t>
            </a:r>
          </a:p>
        </p:txBody>
      </p:sp>
      <p:sp>
        <p:nvSpPr>
          <p:cNvPr id="62" name="!!S4_body1"/>
          <p:cNvSpPr txBox="1"/>
          <p:nvPr/>
        </p:nvSpPr>
        <p:spPr>
          <a:xfrm>
            <a:off x="4645152" y="-2816352"/>
            <a:ext cx="3054096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>
                <a:solidFill>
                  <a:srgbClr val="C1D1EC"/>
                </a:solidFill>
                <a:latin typeface="Aptos"/>
              </a:rPr>
              <a:t>Yhdistämme uutta tietoa aiempaan osaamiseen.</a:t>
            </a:r>
          </a:p>
        </p:txBody>
      </p:sp>
      <p:sp>
        <p:nvSpPr>
          <p:cNvPr id="63" name="!!S4_card2"/>
          <p:cNvSpPr/>
          <p:nvPr/>
        </p:nvSpPr>
        <p:spPr>
          <a:xfrm>
            <a:off x="8220456" y="-4654296"/>
            <a:ext cx="3557016" cy="3044952"/>
          </a:xfrm>
          <a:prstGeom prst="roundRect">
            <a:avLst>
              <a:gd name="adj" fmla="val 13000"/>
            </a:avLst>
          </a:prstGeom>
          <a:solidFill>
            <a:srgbClr val="0B2451">
              <a:alpha val="86000"/>
            </a:srgbClr>
          </a:solidFill>
          <a:ln w="13970">
            <a:solidFill>
              <a:srgbClr val="5DE5FF">
                <a:alpha val="7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!!S4_topline2"/>
          <p:cNvSpPr/>
          <p:nvPr/>
        </p:nvSpPr>
        <p:spPr>
          <a:xfrm>
            <a:off x="8430768" y="-4453128"/>
            <a:ext cx="969264" cy="50292"/>
          </a:xfrm>
          <a:prstGeom prst="rect">
            <a:avLst/>
          </a:prstGeom>
          <a:solidFill>
            <a:srgbClr val="5DE5FF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!!S4_num2"/>
          <p:cNvSpPr txBox="1"/>
          <p:nvPr/>
        </p:nvSpPr>
        <p:spPr>
          <a:xfrm>
            <a:off x="8458200" y="-4169664"/>
            <a:ext cx="10972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5DE5FF"/>
                </a:solidFill>
                <a:latin typeface="Aptos"/>
              </a:rPr>
              <a:t>03</a:t>
            </a:r>
          </a:p>
        </p:txBody>
      </p:sp>
      <p:sp>
        <p:nvSpPr>
          <p:cNvPr id="66" name="!!S4_word2"/>
          <p:cNvSpPr txBox="1"/>
          <p:nvPr/>
        </p:nvSpPr>
        <p:spPr>
          <a:xfrm>
            <a:off x="8458200" y="-3429000"/>
            <a:ext cx="3081528" cy="4480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5FAFF"/>
                </a:solidFill>
                <a:latin typeface="Aptos"/>
              </a:rPr>
              <a:t>YHTEISTYÖ</a:t>
            </a:r>
          </a:p>
        </p:txBody>
      </p:sp>
      <p:sp>
        <p:nvSpPr>
          <p:cNvPr id="67" name="!!S4_body2"/>
          <p:cNvSpPr txBox="1"/>
          <p:nvPr/>
        </p:nvSpPr>
        <p:spPr>
          <a:xfrm>
            <a:off x="8458200" y="-2816352"/>
            <a:ext cx="3054096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>
                <a:solidFill>
                  <a:srgbClr val="C1D1EC"/>
                </a:solidFill>
                <a:latin typeface="Aptos"/>
              </a:rPr>
              <a:t>Rakennamme luottamusta ja ratkaisuja yhdessä.</a:t>
            </a:r>
          </a:p>
        </p:txBody>
      </p:sp>
      <p:sp>
        <p:nvSpPr>
          <p:cNvPr id="68" name="!!S4_footer_dot"/>
          <p:cNvSpPr/>
          <p:nvPr/>
        </p:nvSpPr>
        <p:spPr>
          <a:xfrm>
            <a:off x="612648" y="-941832"/>
            <a:ext cx="118872" cy="118872"/>
          </a:xfrm>
          <a:prstGeom prst="ellipse">
            <a:avLst/>
          </a:prstGeom>
          <a:solidFill>
            <a:srgbClr val="5CD8FF">
              <a:alpha val="88000"/>
            </a:srgbClr>
          </a:solidFill>
          <a:ln w="20955">
            <a:solidFill>
              <a:srgbClr val="5D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!!S4_takeaway"/>
          <p:cNvSpPr txBox="1"/>
          <p:nvPr/>
        </p:nvSpPr>
        <p:spPr>
          <a:xfrm>
            <a:off x="896112" y="-1060704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F5FAFF"/>
                </a:solidFill>
                <a:latin typeface="Aptos"/>
              </a:rPr>
              <a:t>Metataidot eivät korvaa ammattitaitoa – ne vahvistavat sen käyttöä.</a:t>
            </a:r>
          </a:p>
        </p:txBody>
      </p:sp>
      <p:sp>
        <p:nvSpPr>
          <p:cNvPr id="70" name="!!S6_kicker"/>
          <p:cNvSpPr txBox="1"/>
          <p:nvPr/>
        </p:nvSpPr>
        <p:spPr>
          <a:xfrm>
            <a:off x="594360" y="7150608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5DE5FF"/>
                </a:solidFill>
                <a:latin typeface="Aptos"/>
              </a:rPr>
              <a:t>M E T A T A I D O T  /  04</a:t>
            </a:r>
          </a:p>
        </p:txBody>
      </p:sp>
      <p:sp>
        <p:nvSpPr>
          <p:cNvPr id="71" name="!!S6_title"/>
          <p:cNvSpPr txBox="1"/>
          <p:nvPr/>
        </p:nvSpPr>
        <p:spPr>
          <a:xfrm>
            <a:off x="594360" y="7479792"/>
            <a:ext cx="107899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500" b="1">
                <a:solidFill>
                  <a:srgbClr val="F5FAFF"/>
                </a:solidFill>
                <a:latin typeface="Aptos"/>
              </a:rPr>
              <a:t>Miten HR tunnistaa metataidot?</a:t>
            </a:r>
          </a:p>
        </p:txBody>
      </p:sp>
      <p:sp>
        <p:nvSpPr>
          <p:cNvPr id="72" name="!!S6_subtitle"/>
          <p:cNvSpPr txBox="1"/>
          <p:nvPr/>
        </p:nvSpPr>
        <p:spPr>
          <a:xfrm>
            <a:off x="621792" y="8202168"/>
            <a:ext cx="1069848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C1D1EC"/>
                </a:solidFill>
                <a:latin typeface="Aptos"/>
              </a:rPr>
              <a:t>Etsi konkreettista toimintaa pelkkien luonnehdintojen sijaan.</a:t>
            </a:r>
          </a:p>
        </p:txBody>
      </p:sp>
      <p:cxnSp>
        <p:nvCxnSpPr>
          <p:cNvPr id="73" name="!!S6_divider"/>
          <p:cNvCxnSpPr/>
          <p:nvPr/>
        </p:nvCxnSpPr>
        <p:spPr>
          <a:xfrm>
            <a:off x="612648" y="8750807"/>
            <a:ext cx="10954512" cy="0"/>
          </a:xfrm>
          <a:prstGeom prst="line">
            <a:avLst/>
          </a:prstGeom>
          <a:ln w="12700">
            <a:solidFill>
              <a:srgbClr val="34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!!S6_panel0"/>
          <p:cNvSpPr/>
          <p:nvPr/>
        </p:nvSpPr>
        <p:spPr>
          <a:xfrm>
            <a:off x="603504" y="9079992"/>
            <a:ext cx="5349240" cy="3145536"/>
          </a:xfrm>
          <a:prstGeom prst="roundRect">
            <a:avLst>
              <a:gd name="adj" fmla="val 13000"/>
            </a:avLst>
          </a:prstGeom>
          <a:solidFill>
            <a:srgbClr val="112A55">
              <a:alpha val="90000"/>
            </a:srgbClr>
          </a:solidFill>
          <a:ln w="13970">
            <a:solidFill>
              <a:srgbClr val="5DE5FF">
                <a:alpha val="7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!!S6_pill0"/>
          <p:cNvSpPr/>
          <p:nvPr/>
        </p:nvSpPr>
        <p:spPr>
          <a:xfrm>
            <a:off x="859536" y="9299448"/>
            <a:ext cx="2313432" cy="347472"/>
          </a:xfrm>
          <a:prstGeom prst="roundRect">
            <a:avLst>
              <a:gd name="adj" fmla="val 13000"/>
            </a:avLst>
          </a:prstGeom>
          <a:solidFill>
            <a:srgbClr val="5DE5FF">
              <a:alpha val="20000"/>
            </a:srgbClr>
          </a:solidFill>
          <a:ln w="13970">
            <a:solidFill>
              <a:srgbClr val="5DE5FF">
                <a:alpha val="9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!!S6_paneltitle0"/>
          <p:cNvSpPr txBox="1"/>
          <p:nvPr/>
        </p:nvSpPr>
        <p:spPr>
          <a:xfrm>
            <a:off x="969264" y="9345168"/>
            <a:ext cx="448056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5FAFF"/>
                </a:solidFill>
                <a:latin typeface="Aptos"/>
              </a:rPr>
              <a:t>REKRYTOINNISSA</a:t>
            </a:r>
          </a:p>
        </p:txBody>
      </p:sp>
      <p:sp>
        <p:nvSpPr>
          <p:cNvPr id="77" name="!!S6_label0"/>
          <p:cNvSpPr txBox="1"/>
          <p:nvPr/>
        </p:nvSpPr>
        <p:spPr>
          <a:xfrm>
            <a:off x="877824" y="9820656"/>
            <a:ext cx="470001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C1D1EC"/>
                </a:solidFill>
                <a:latin typeface="Aptos"/>
              </a:rPr>
              <a:t>Käyttäytymistä kuvaava kysymys</a:t>
            </a:r>
          </a:p>
        </p:txBody>
      </p:sp>
      <p:sp>
        <p:nvSpPr>
          <p:cNvPr id="78" name="!!S6_quote0"/>
          <p:cNvSpPr txBox="1"/>
          <p:nvPr/>
        </p:nvSpPr>
        <p:spPr>
          <a:xfrm>
            <a:off x="868680" y="10213848"/>
            <a:ext cx="4681728" cy="10607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5FAFF"/>
                </a:solidFill>
                <a:latin typeface="Aptos"/>
              </a:rPr>
              <a:t>“Kerro tilanteesta, jossa jouduit oppimaan jotain nopeasti.”</a:t>
            </a:r>
          </a:p>
        </p:txBody>
      </p:sp>
      <p:cxnSp>
        <p:nvCxnSpPr>
          <p:cNvPr id="79" name="!!S6_panelrule0"/>
          <p:cNvCxnSpPr/>
          <p:nvPr/>
        </p:nvCxnSpPr>
        <p:spPr>
          <a:xfrm>
            <a:off x="868680" y="11466576"/>
            <a:ext cx="4782312" cy="0"/>
          </a:xfrm>
          <a:prstGeom prst="line">
            <a:avLst/>
          </a:prstGeom>
          <a:ln w="12700">
            <a:solidFill>
              <a:srgbClr val="5D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!!S6_flow0"/>
          <p:cNvSpPr txBox="1"/>
          <p:nvPr/>
        </p:nvSpPr>
        <p:spPr>
          <a:xfrm>
            <a:off x="877824" y="11603736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5DE5FF"/>
                </a:solidFill>
                <a:latin typeface="Aptos"/>
              </a:rPr>
              <a:t>TILANNE   →   TOIMINTA   →   OPPI</a:t>
            </a:r>
          </a:p>
        </p:txBody>
      </p:sp>
      <p:sp>
        <p:nvSpPr>
          <p:cNvPr id="81" name="!!S6_panel1"/>
          <p:cNvSpPr/>
          <p:nvPr/>
        </p:nvSpPr>
        <p:spPr>
          <a:xfrm>
            <a:off x="6236208" y="9079992"/>
            <a:ext cx="5349240" cy="3145536"/>
          </a:xfrm>
          <a:prstGeom prst="roundRect">
            <a:avLst>
              <a:gd name="adj" fmla="val 13000"/>
            </a:avLst>
          </a:prstGeom>
          <a:solidFill>
            <a:srgbClr val="112A55">
              <a:alpha val="90000"/>
            </a:srgbClr>
          </a:solidFill>
          <a:ln w="13970">
            <a:solidFill>
              <a:srgbClr val="9A81FF">
                <a:alpha val="7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!!S6_pill1"/>
          <p:cNvSpPr/>
          <p:nvPr/>
        </p:nvSpPr>
        <p:spPr>
          <a:xfrm>
            <a:off x="6492240" y="9299448"/>
            <a:ext cx="2313432" cy="347472"/>
          </a:xfrm>
          <a:prstGeom prst="roundRect">
            <a:avLst>
              <a:gd name="adj" fmla="val 13000"/>
            </a:avLst>
          </a:prstGeom>
          <a:solidFill>
            <a:srgbClr val="9A81FF">
              <a:alpha val="20000"/>
            </a:srgbClr>
          </a:solidFill>
          <a:ln w="13970">
            <a:solidFill>
              <a:srgbClr val="9A81FF">
                <a:alpha val="9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!!S6_paneltitle1"/>
          <p:cNvSpPr txBox="1"/>
          <p:nvPr/>
        </p:nvSpPr>
        <p:spPr>
          <a:xfrm>
            <a:off x="6601968" y="9345168"/>
            <a:ext cx="448056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5FAFF"/>
                </a:solidFill>
                <a:latin typeface="Aptos"/>
              </a:rPr>
              <a:t>KEHITTÄMISESSÄ</a:t>
            </a:r>
          </a:p>
        </p:txBody>
      </p:sp>
      <p:sp>
        <p:nvSpPr>
          <p:cNvPr id="84" name="!!S6_label1"/>
          <p:cNvSpPr txBox="1"/>
          <p:nvPr/>
        </p:nvSpPr>
        <p:spPr>
          <a:xfrm>
            <a:off x="6510528" y="9820656"/>
            <a:ext cx="470001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C1D1EC"/>
                </a:solidFill>
                <a:latin typeface="Aptos"/>
              </a:rPr>
              <a:t>Oppimista tukeva keskustelu</a:t>
            </a:r>
          </a:p>
        </p:txBody>
      </p:sp>
      <p:sp>
        <p:nvSpPr>
          <p:cNvPr id="85" name="!!S6_quote1"/>
          <p:cNvSpPr txBox="1"/>
          <p:nvPr/>
        </p:nvSpPr>
        <p:spPr>
          <a:xfrm>
            <a:off x="6501384" y="10213848"/>
            <a:ext cx="4681728" cy="10607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5FAFF"/>
                </a:solidFill>
                <a:latin typeface="Aptos"/>
              </a:rPr>
              <a:t>“Mitä kokeilit? Mitä opit? Mitä teet seuraavaksi?”</a:t>
            </a:r>
          </a:p>
        </p:txBody>
      </p:sp>
      <p:cxnSp>
        <p:nvCxnSpPr>
          <p:cNvPr id="86" name="!!S6_panelrule1"/>
          <p:cNvCxnSpPr/>
          <p:nvPr/>
        </p:nvCxnSpPr>
        <p:spPr>
          <a:xfrm>
            <a:off x="6501384" y="11466576"/>
            <a:ext cx="4782312" cy="0"/>
          </a:xfrm>
          <a:prstGeom prst="line">
            <a:avLst/>
          </a:prstGeom>
          <a:ln w="12700">
            <a:solidFill>
              <a:srgbClr val="9A8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!!S6_flow1"/>
          <p:cNvSpPr txBox="1"/>
          <p:nvPr/>
        </p:nvSpPr>
        <p:spPr>
          <a:xfrm>
            <a:off x="6510528" y="11603736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9A81FF"/>
                </a:solidFill>
                <a:latin typeface="Aptos"/>
              </a:rPr>
              <a:t>PALAUTE   →   KOKEILU   →   REFLEKTIO</a:t>
            </a:r>
          </a:p>
        </p:txBody>
      </p:sp>
      <p:sp>
        <p:nvSpPr>
          <p:cNvPr id="88" name="!!S6_footer_dot"/>
          <p:cNvSpPr/>
          <p:nvPr/>
        </p:nvSpPr>
        <p:spPr>
          <a:xfrm>
            <a:off x="667512" y="12774168"/>
            <a:ext cx="100584" cy="100584"/>
          </a:xfrm>
          <a:prstGeom prst="ellipse">
            <a:avLst/>
          </a:prstGeom>
          <a:solidFill>
            <a:srgbClr val="5CD8FF">
              <a:alpha val="88000"/>
            </a:srgbClr>
          </a:solidFill>
          <a:ln w="20955">
            <a:solidFill>
              <a:srgbClr val="5D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!!S6_footer"/>
          <p:cNvSpPr txBox="1"/>
          <p:nvPr/>
        </p:nvSpPr>
        <p:spPr>
          <a:xfrm>
            <a:off x="896112" y="12618720"/>
            <a:ext cx="1065276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F5FAFF"/>
                </a:solidFill>
                <a:latin typeface="Aptos"/>
              </a:rPr>
              <a:t>Esimerkit auttavat arvioimaan taitoja — yksittäinen vastaus ei kerro kaikkea.</a:t>
            </a:r>
          </a:p>
        </p:txBody>
      </p:sp>
      <p:sp>
        <p:nvSpPr>
          <p:cNvPr id="90" name="!!Progress_5"/>
          <p:cNvSpPr txBox="1"/>
          <p:nvPr/>
        </p:nvSpPr>
        <p:spPr>
          <a:xfrm>
            <a:off x="10561320" y="6318504"/>
            <a:ext cx="96926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8197BC"/>
                </a:solidFill>
                <a:latin typeface="Aptos"/>
              </a:rPr>
              <a:t>03  /  06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4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2B2C3-EAB5-F378-4DB9-49C4C7D4E9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98761C-7AA5-F223-F7C5-7E72780465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670BF9-A583-F9D4-B58E-717D479BD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6616"/>
            <a:ext cx="12192000" cy="9525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7A05619-BDAA-0BF9-DE1C-2F508CC86F81}"/>
              </a:ext>
            </a:extLst>
          </p:cNvPr>
          <p:cNvSpPr/>
          <p:nvPr/>
        </p:nvSpPr>
        <p:spPr>
          <a:xfrm>
            <a:off x="-16042" y="0"/>
            <a:ext cx="12192000" cy="9601200"/>
          </a:xfrm>
          <a:prstGeom prst="rect">
            <a:avLst/>
          </a:prstGeom>
          <a:solidFill>
            <a:srgbClr val="00112E">
              <a:alpha val="76000"/>
            </a:srgb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601994-5DA9-458C-D842-F7E5D8BF9729}"/>
              </a:ext>
            </a:extLst>
          </p:cNvPr>
          <p:cNvSpPr txBox="1"/>
          <p:nvPr/>
        </p:nvSpPr>
        <p:spPr>
          <a:xfrm>
            <a:off x="3837710" y="-6289824"/>
            <a:ext cx="43780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6000" dirty="0">
                <a:solidFill>
                  <a:schemeClr val="bg1"/>
                </a:solidFill>
                <a:latin typeface="Abadi" panose="020B0604020104020204" pitchFamily="34" charset="0"/>
              </a:rPr>
              <a:t>Metataidot</a:t>
            </a:r>
            <a:endParaRPr lang="en-US" sz="60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7D38E0-99D5-8AA6-39B9-3BC120895EE0}"/>
              </a:ext>
            </a:extLst>
          </p:cNvPr>
          <p:cNvSpPr txBox="1"/>
          <p:nvPr/>
        </p:nvSpPr>
        <p:spPr>
          <a:xfrm>
            <a:off x="2981159" y="-5358407"/>
            <a:ext cx="60590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2800" dirty="0">
                <a:solidFill>
                  <a:schemeClr val="bg1"/>
                </a:solidFill>
                <a:latin typeface="Abadi" panose="020B0604020104020204" pitchFamily="34" charset="0"/>
              </a:rPr>
              <a:t>työpaikan piilotettu helmi</a:t>
            </a:r>
            <a:endParaRPr lang="en-US" sz="28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421AF6-25FB-FE4E-8022-54DD092AC744}"/>
              </a:ext>
            </a:extLst>
          </p:cNvPr>
          <p:cNvSpPr txBox="1"/>
          <p:nvPr/>
        </p:nvSpPr>
        <p:spPr>
          <a:xfrm>
            <a:off x="581892" y="-4270475"/>
            <a:ext cx="3962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Metataitojen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tarkoitus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on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tukea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aktivoida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ja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tehostaa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muiden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taitojen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käyttöä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sekä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auttaa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ihmistä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sopeutumaan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jatkuvaan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muutokseen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. Ne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eivät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liity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mihinkään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tiettyyn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ammattiin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tai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työn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sisältöön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vaan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ne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ovat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"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taitoja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taitojen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taustalla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" –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eli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taitoja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joiden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avulla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opimme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käsittelemme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tietoa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ja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toimimme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muiden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kanssa</a:t>
            </a:r>
            <a:endParaRPr lang="en-US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137EF0-2881-B99D-315F-C9FAA28C1F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4292" y="-4674254"/>
            <a:ext cx="7333671" cy="43405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C5AA270-D42F-D913-C90D-18F4ABC422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" y="9525000"/>
            <a:ext cx="12185522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FE9D2B4-C2A2-B917-9A4E-4CC942885353}"/>
              </a:ext>
            </a:extLst>
          </p:cNvPr>
          <p:cNvSpPr txBox="1"/>
          <p:nvPr/>
        </p:nvSpPr>
        <p:spPr>
          <a:xfrm>
            <a:off x="5063959" y="8670787"/>
            <a:ext cx="18934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4000" dirty="0">
                <a:solidFill>
                  <a:schemeClr val="bg1"/>
                </a:solidFill>
              </a:rPr>
              <a:t>KIITOS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15" name="!!S6_title"/>
          <p:cNvSpPr txBox="1"/>
          <p:nvPr/>
        </p:nvSpPr>
        <p:spPr>
          <a:xfrm>
            <a:off x="594360" y="621792"/>
            <a:ext cx="107899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500" b="1">
                <a:solidFill>
                  <a:srgbClr val="F5FAFF"/>
                </a:solidFill>
                <a:latin typeface="Aptos"/>
              </a:rPr>
              <a:t>Miten HR tunnistaa metataidot?</a:t>
            </a:r>
          </a:p>
        </p:txBody>
      </p:sp>
      <p:sp>
        <p:nvSpPr>
          <p:cNvPr id="16" name="!!S6_subtitle"/>
          <p:cNvSpPr txBox="1"/>
          <p:nvPr/>
        </p:nvSpPr>
        <p:spPr>
          <a:xfrm>
            <a:off x="621792" y="1344168"/>
            <a:ext cx="1069848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C1D1EC"/>
                </a:solidFill>
                <a:latin typeface="Aptos"/>
              </a:rPr>
              <a:t>Etsi konkreettista toimintaa pelkkien luonnehdintojen sijaan.</a:t>
            </a:r>
          </a:p>
        </p:txBody>
      </p:sp>
      <p:cxnSp>
        <p:nvCxnSpPr>
          <p:cNvPr id="17" name="!!S6_divider"/>
          <p:cNvCxnSpPr/>
          <p:nvPr/>
        </p:nvCxnSpPr>
        <p:spPr>
          <a:xfrm>
            <a:off x="612648" y="1892807"/>
            <a:ext cx="10954512" cy="0"/>
          </a:xfrm>
          <a:prstGeom prst="line">
            <a:avLst/>
          </a:prstGeom>
          <a:ln w="12700">
            <a:solidFill>
              <a:srgbClr val="34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S6_panel0"/>
          <p:cNvSpPr/>
          <p:nvPr/>
        </p:nvSpPr>
        <p:spPr>
          <a:xfrm>
            <a:off x="603504" y="2221992"/>
            <a:ext cx="5349240" cy="3145536"/>
          </a:xfrm>
          <a:prstGeom prst="roundRect">
            <a:avLst>
              <a:gd name="adj" fmla="val 13000"/>
            </a:avLst>
          </a:prstGeom>
          <a:solidFill>
            <a:srgbClr val="112A55">
              <a:alpha val="90000"/>
            </a:srgbClr>
          </a:solidFill>
          <a:ln w="13970">
            <a:solidFill>
              <a:srgbClr val="5DE5FF">
                <a:alpha val="7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!!S6_pill0"/>
          <p:cNvSpPr/>
          <p:nvPr/>
        </p:nvSpPr>
        <p:spPr>
          <a:xfrm>
            <a:off x="859536" y="2441448"/>
            <a:ext cx="2313432" cy="347472"/>
          </a:xfrm>
          <a:prstGeom prst="roundRect">
            <a:avLst>
              <a:gd name="adj" fmla="val 13000"/>
            </a:avLst>
          </a:prstGeom>
          <a:solidFill>
            <a:srgbClr val="5DE5FF">
              <a:alpha val="20000"/>
            </a:srgbClr>
          </a:solidFill>
          <a:ln w="13970">
            <a:solidFill>
              <a:srgbClr val="5DE5FF">
                <a:alpha val="9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!!S6_paneltitle0"/>
          <p:cNvSpPr txBox="1"/>
          <p:nvPr/>
        </p:nvSpPr>
        <p:spPr>
          <a:xfrm>
            <a:off x="969264" y="2487168"/>
            <a:ext cx="448056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5FAFF"/>
                </a:solidFill>
                <a:latin typeface="Aptos"/>
              </a:rPr>
              <a:t>REKRYTOINNISSA</a:t>
            </a:r>
          </a:p>
        </p:txBody>
      </p:sp>
      <p:sp>
        <p:nvSpPr>
          <p:cNvPr id="21" name="!!S6_label0"/>
          <p:cNvSpPr txBox="1"/>
          <p:nvPr/>
        </p:nvSpPr>
        <p:spPr>
          <a:xfrm>
            <a:off x="877824" y="2962656"/>
            <a:ext cx="470001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C1D1EC"/>
                </a:solidFill>
                <a:latin typeface="Aptos"/>
              </a:rPr>
              <a:t>Käyttäytymistä kuvaava kysymys</a:t>
            </a:r>
          </a:p>
        </p:txBody>
      </p:sp>
      <p:sp>
        <p:nvSpPr>
          <p:cNvPr id="22" name="!!S6_quote0"/>
          <p:cNvSpPr txBox="1"/>
          <p:nvPr/>
        </p:nvSpPr>
        <p:spPr>
          <a:xfrm>
            <a:off x="868680" y="3355848"/>
            <a:ext cx="4681728" cy="10607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5FAFF"/>
                </a:solidFill>
                <a:latin typeface="Aptos"/>
              </a:rPr>
              <a:t>“Kerro tilanteesta, jossa jouduit oppimaan jotain nopeasti.”</a:t>
            </a:r>
          </a:p>
        </p:txBody>
      </p:sp>
      <p:cxnSp>
        <p:nvCxnSpPr>
          <p:cNvPr id="23" name="!!S6_panelrule0"/>
          <p:cNvCxnSpPr/>
          <p:nvPr/>
        </p:nvCxnSpPr>
        <p:spPr>
          <a:xfrm>
            <a:off x="868680" y="4608576"/>
            <a:ext cx="4782312" cy="0"/>
          </a:xfrm>
          <a:prstGeom prst="line">
            <a:avLst/>
          </a:prstGeom>
          <a:ln w="12700">
            <a:solidFill>
              <a:srgbClr val="5D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!!S6_flow0"/>
          <p:cNvSpPr txBox="1"/>
          <p:nvPr/>
        </p:nvSpPr>
        <p:spPr>
          <a:xfrm>
            <a:off x="877824" y="4745736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5DE5FF"/>
                </a:solidFill>
                <a:latin typeface="Aptos"/>
              </a:rPr>
              <a:t>TILANNE   →   TOIMINTA   →   OPPI</a:t>
            </a:r>
          </a:p>
        </p:txBody>
      </p:sp>
      <p:sp>
        <p:nvSpPr>
          <p:cNvPr id="25" name="!!S6_panel1"/>
          <p:cNvSpPr/>
          <p:nvPr/>
        </p:nvSpPr>
        <p:spPr>
          <a:xfrm>
            <a:off x="6236208" y="2221992"/>
            <a:ext cx="5349240" cy="3145536"/>
          </a:xfrm>
          <a:prstGeom prst="roundRect">
            <a:avLst>
              <a:gd name="adj" fmla="val 13000"/>
            </a:avLst>
          </a:prstGeom>
          <a:solidFill>
            <a:srgbClr val="112A55">
              <a:alpha val="90000"/>
            </a:srgbClr>
          </a:solidFill>
          <a:ln w="13970">
            <a:solidFill>
              <a:srgbClr val="9A81FF">
                <a:alpha val="7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!!S6_pill1"/>
          <p:cNvSpPr/>
          <p:nvPr/>
        </p:nvSpPr>
        <p:spPr>
          <a:xfrm>
            <a:off x="6492240" y="2441448"/>
            <a:ext cx="2313432" cy="347472"/>
          </a:xfrm>
          <a:prstGeom prst="roundRect">
            <a:avLst>
              <a:gd name="adj" fmla="val 13000"/>
            </a:avLst>
          </a:prstGeom>
          <a:solidFill>
            <a:srgbClr val="9A81FF">
              <a:alpha val="20000"/>
            </a:srgbClr>
          </a:solidFill>
          <a:ln w="13970">
            <a:solidFill>
              <a:srgbClr val="9A81FF">
                <a:alpha val="9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!!S6_paneltitle1"/>
          <p:cNvSpPr txBox="1"/>
          <p:nvPr/>
        </p:nvSpPr>
        <p:spPr>
          <a:xfrm>
            <a:off x="6601968" y="2487168"/>
            <a:ext cx="448056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5FAFF"/>
                </a:solidFill>
                <a:latin typeface="Aptos"/>
              </a:rPr>
              <a:t>KEHITTÄMISESSÄ</a:t>
            </a:r>
          </a:p>
        </p:txBody>
      </p:sp>
      <p:sp>
        <p:nvSpPr>
          <p:cNvPr id="28" name="!!S6_label1"/>
          <p:cNvSpPr txBox="1"/>
          <p:nvPr/>
        </p:nvSpPr>
        <p:spPr>
          <a:xfrm>
            <a:off x="6510528" y="2962656"/>
            <a:ext cx="470001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C1D1EC"/>
                </a:solidFill>
                <a:latin typeface="Aptos"/>
              </a:rPr>
              <a:t>Oppimista tukeva keskustelu</a:t>
            </a:r>
          </a:p>
        </p:txBody>
      </p:sp>
      <p:sp>
        <p:nvSpPr>
          <p:cNvPr id="29" name="!!S6_quote1"/>
          <p:cNvSpPr txBox="1"/>
          <p:nvPr/>
        </p:nvSpPr>
        <p:spPr>
          <a:xfrm>
            <a:off x="6501384" y="3355848"/>
            <a:ext cx="4681728" cy="10607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5FAFF"/>
                </a:solidFill>
                <a:latin typeface="Aptos"/>
              </a:rPr>
              <a:t>“Mitä kokeilit? Mitä opit? Mitä teet seuraavaksi?”</a:t>
            </a:r>
          </a:p>
        </p:txBody>
      </p:sp>
      <p:cxnSp>
        <p:nvCxnSpPr>
          <p:cNvPr id="30" name="!!S6_panelrule1"/>
          <p:cNvCxnSpPr/>
          <p:nvPr/>
        </p:nvCxnSpPr>
        <p:spPr>
          <a:xfrm>
            <a:off x="6501384" y="4608576"/>
            <a:ext cx="4782312" cy="0"/>
          </a:xfrm>
          <a:prstGeom prst="line">
            <a:avLst/>
          </a:prstGeom>
          <a:ln w="12700">
            <a:solidFill>
              <a:srgbClr val="9A8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!!S6_flow1"/>
          <p:cNvSpPr txBox="1"/>
          <p:nvPr/>
        </p:nvSpPr>
        <p:spPr>
          <a:xfrm>
            <a:off x="6510528" y="4745736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9A81FF"/>
                </a:solidFill>
                <a:latin typeface="Aptos"/>
              </a:rPr>
              <a:t>PALAUTE   →   KOKEILU   →   REFLEKTIO</a:t>
            </a:r>
          </a:p>
        </p:txBody>
      </p:sp>
      <p:sp>
        <p:nvSpPr>
          <p:cNvPr id="32" name="!!S6_footer_dot"/>
          <p:cNvSpPr/>
          <p:nvPr/>
        </p:nvSpPr>
        <p:spPr>
          <a:xfrm>
            <a:off x="667512" y="5916168"/>
            <a:ext cx="100584" cy="100584"/>
          </a:xfrm>
          <a:prstGeom prst="ellipse">
            <a:avLst/>
          </a:prstGeom>
          <a:solidFill>
            <a:srgbClr val="5CD8FF">
              <a:alpha val="88000"/>
            </a:srgbClr>
          </a:solidFill>
          <a:ln w="20955">
            <a:solidFill>
              <a:srgbClr val="5D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!!S6_footer"/>
          <p:cNvSpPr txBox="1"/>
          <p:nvPr/>
        </p:nvSpPr>
        <p:spPr>
          <a:xfrm>
            <a:off x="896112" y="5760720"/>
            <a:ext cx="1065276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F5FAFF"/>
                </a:solidFill>
                <a:latin typeface="Aptos"/>
              </a:rPr>
              <a:t>Esimerkit auttavat arvioimaan taitoja — yksittäinen vastaus ei kerro kaikkea.</a:t>
            </a:r>
          </a:p>
        </p:txBody>
      </p:sp>
      <p:sp>
        <p:nvSpPr>
          <p:cNvPr id="34" name="!!S5_kicker"/>
          <p:cNvSpPr txBox="1"/>
          <p:nvPr/>
        </p:nvSpPr>
        <p:spPr>
          <a:xfrm>
            <a:off x="594360" y="-6565392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5DE5FF"/>
                </a:solidFill>
                <a:latin typeface="Aptos"/>
              </a:rPr>
              <a:t>M E T A T A I D O T  /  03</a:t>
            </a:r>
          </a:p>
        </p:txBody>
      </p:sp>
      <p:sp>
        <p:nvSpPr>
          <p:cNvPr id="35" name="!!S5_title"/>
          <p:cNvSpPr txBox="1"/>
          <p:nvPr/>
        </p:nvSpPr>
        <p:spPr>
          <a:xfrm>
            <a:off x="594360" y="-6236208"/>
            <a:ext cx="107899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500" b="1">
                <a:solidFill>
                  <a:srgbClr val="F5FAFF"/>
                </a:solidFill>
                <a:latin typeface="Aptos"/>
              </a:rPr>
              <a:t>Metataidot näkyvät teoissa</a:t>
            </a:r>
          </a:p>
        </p:txBody>
      </p:sp>
      <p:sp>
        <p:nvSpPr>
          <p:cNvPr id="36" name="!!S5_subtitle"/>
          <p:cNvSpPr txBox="1"/>
          <p:nvPr/>
        </p:nvSpPr>
        <p:spPr>
          <a:xfrm>
            <a:off x="621792" y="-5513832"/>
            <a:ext cx="1069848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C1D1EC"/>
                </a:solidFill>
                <a:latin typeface="Aptos"/>
              </a:rPr>
              <a:t>Esimerkki: tiimi ottaa käyttöön uuden digitaalisen työkalun.</a:t>
            </a:r>
          </a:p>
        </p:txBody>
      </p:sp>
      <p:cxnSp>
        <p:nvCxnSpPr>
          <p:cNvPr id="37" name="!!S5_divider"/>
          <p:cNvCxnSpPr/>
          <p:nvPr/>
        </p:nvCxnSpPr>
        <p:spPr>
          <a:xfrm>
            <a:off x="612648" y="-4965193"/>
            <a:ext cx="10954512" cy="0"/>
          </a:xfrm>
          <a:prstGeom prst="line">
            <a:avLst/>
          </a:prstGeom>
          <a:ln w="12700">
            <a:solidFill>
              <a:srgbClr val="34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!!S5_context_panel"/>
          <p:cNvSpPr/>
          <p:nvPr/>
        </p:nvSpPr>
        <p:spPr>
          <a:xfrm>
            <a:off x="612648" y="-4681728"/>
            <a:ext cx="10972800" cy="749808"/>
          </a:xfrm>
          <a:prstGeom prst="roundRect">
            <a:avLst>
              <a:gd name="adj" fmla="val 13000"/>
            </a:avLst>
          </a:prstGeom>
          <a:solidFill>
            <a:srgbClr val="132C61">
              <a:alpha val="89000"/>
            </a:srgbClr>
          </a:solidFill>
          <a:ln w="13970">
            <a:solidFill>
              <a:srgbClr val="9A81FF">
                <a:alpha val="5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!!S5_context_tag"/>
          <p:cNvSpPr txBox="1"/>
          <p:nvPr/>
        </p:nvSpPr>
        <p:spPr>
          <a:xfrm>
            <a:off x="841248" y="-4480560"/>
            <a:ext cx="1133856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5DE5FF"/>
                </a:solidFill>
                <a:latin typeface="Aptos"/>
              </a:rPr>
              <a:t>TILANNE</a:t>
            </a:r>
          </a:p>
        </p:txBody>
      </p:sp>
      <p:sp>
        <p:nvSpPr>
          <p:cNvPr id="40" name="!!S5_context"/>
          <p:cNvSpPr txBox="1"/>
          <p:nvPr/>
        </p:nvSpPr>
        <p:spPr>
          <a:xfrm>
            <a:off x="1975104" y="-4526280"/>
            <a:ext cx="9079992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5FAFF"/>
                </a:solidFill>
                <a:latin typeface="Aptos"/>
              </a:rPr>
              <a:t>Uudet työkalut muuttavat arjen toimintatapoja.</a:t>
            </a:r>
          </a:p>
        </p:txBody>
      </p:sp>
      <p:sp>
        <p:nvSpPr>
          <p:cNvPr id="41" name="!!S5_flowcard0"/>
          <p:cNvSpPr/>
          <p:nvPr/>
        </p:nvSpPr>
        <p:spPr>
          <a:xfrm>
            <a:off x="603504" y="-3511296"/>
            <a:ext cx="2560320" cy="1865376"/>
          </a:xfrm>
          <a:prstGeom prst="roundRect">
            <a:avLst>
              <a:gd name="adj" fmla="val 13000"/>
            </a:avLst>
          </a:prstGeom>
          <a:solidFill>
            <a:srgbClr val="102755">
              <a:alpha val="92000"/>
            </a:srgbClr>
          </a:solidFill>
          <a:ln w="13970">
            <a:solidFill>
              <a:srgbClr val="5DE5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!!S5_floworb0"/>
          <p:cNvSpPr/>
          <p:nvPr/>
        </p:nvSpPr>
        <p:spPr>
          <a:xfrm>
            <a:off x="777240" y="-3346704"/>
            <a:ext cx="429768" cy="429768"/>
          </a:xfrm>
          <a:prstGeom prst="ellipse">
            <a:avLst/>
          </a:prstGeom>
          <a:solidFill>
            <a:srgbClr val="11315D">
              <a:alpha val="88000"/>
            </a:srgbClr>
          </a:solidFill>
          <a:ln w="20955">
            <a:solidFill>
              <a:srgbClr val="5D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!!S5_flownum0"/>
          <p:cNvSpPr txBox="1"/>
          <p:nvPr/>
        </p:nvSpPr>
        <p:spPr>
          <a:xfrm>
            <a:off x="804672" y="-3264408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5FAFF"/>
                </a:solidFill>
                <a:latin typeface="Aptos"/>
              </a:rPr>
              <a:t>01</a:t>
            </a:r>
          </a:p>
        </p:txBody>
      </p:sp>
      <p:sp>
        <p:nvSpPr>
          <p:cNvPr id="44" name="!!S5_flowtitle0"/>
          <p:cNvSpPr txBox="1"/>
          <p:nvPr/>
        </p:nvSpPr>
        <p:spPr>
          <a:xfrm>
            <a:off x="1316736" y="-3355848"/>
            <a:ext cx="168249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F5FAFF"/>
                </a:solidFill>
                <a:latin typeface="Aptos"/>
              </a:rPr>
              <a:t>HUOMAA</a:t>
            </a:r>
          </a:p>
        </p:txBody>
      </p:sp>
      <p:sp>
        <p:nvSpPr>
          <p:cNvPr id="45" name="!!S5_flowskill0"/>
          <p:cNvSpPr txBox="1"/>
          <p:nvPr/>
        </p:nvSpPr>
        <p:spPr>
          <a:xfrm>
            <a:off x="795528" y="-2807209"/>
            <a:ext cx="222199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DE5FF"/>
                </a:solidFill>
                <a:latin typeface="Aptos"/>
              </a:rPr>
              <a:t>Kriittinen ajattelu</a:t>
            </a:r>
          </a:p>
        </p:txBody>
      </p:sp>
      <p:sp>
        <p:nvSpPr>
          <p:cNvPr id="46" name="!!S5_flowdesc0"/>
          <p:cNvSpPr txBox="1"/>
          <p:nvPr/>
        </p:nvSpPr>
        <p:spPr>
          <a:xfrm>
            <a:off x="786384" y="-2423160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C1D1EC"/>
                </a:solidFill>
                <a:latin typeface="Aptos"/>
              </a:rPr>
              <a:t>Mikä oikeasti muuttuu?</a:t>
            </a:r>
          </a:p>
        </p:txBody>
      </p:sp>
      <p:cxnSp>
        <p:nvCxnSpPr>
          <p:cNvPr id="47" name="!!S5_link0"/>
          <p:cNvCxnSpPr/>
          <p:nvPr/>
        </p:nvCxnSpPr>
        <p:spPr>
          <a:xfrm>
            <a:off x="3172968" y="-2587752"/>
            <a:ext cx="219456" cy="0"/>
          </a:xfrm>
          <a:prstGeom prst="line">
            <a:avLst/>
          </a:prstGeom>
          <a:ln w="25400">
            <a:solidFill>
              <a:srgbClr val="5D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!!S5_flowcard1"/>
          <p:cNvSpPr/>
          <p:nvPr/>
        </p:nvSpPr>
        <p:spPr>
          <a:xfrm>
            <a:off x="3419856" y="-3511296"/>
            <a:ext cx="2560320" cy="1865376"/>
          </a:xfrm>
          <a:prstGeom prst="roundRect">
            <a:avLst>
              <a:gd name="adj" fmla="val 13000"/>
            </a:avLst>
          </a:prstGeom>
          <a:solidFill>
            <a:srgbClr val="102755">
              <a:alpha val="92000"/>
            </a:srgbClr>
          </a:solidFill>
          <a:ln w="13970">
            <a:solidFill>
              <a:srgbClr val="9A81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!!S5_floworb1"/>
          <p:cNvSpPr/>
          <p:nvPr/>
        </p:nvSpPr>
        <p:spPr>
          <a:xfrm>
            <a:off x="3593592" y="-3346704"/>
            <a:ext cx="429768" cy="429768"/>
          </a:xfrm>
          <a:prstGeom prst="ellipse">
            <a:avLst/>
          </a:prstGeom>
          <a:solidFill>
            <a:srgbClr val="11315D">
              <a:alpha val="88000"/>
            </a:srgbClr>
          </a:solidFill>
          <a:ln w="20955">
            <a:solidFill>
              <a:srgbClr val="9A8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!!S5_flownum1"/>
          <p:cNvSpPr txBox="1"/>
          <p:nvPr/>
        </p:nvSpPr>
        <p:spPr>
          <a:xfrm>
            <a:off x="3621024" y="-3264408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5FAFF"/>
                </a:solidFill>
                <a:latin typeface="Aptos"/>
              </a:rPr>
              <a:t>02</a:t>
            </a:r>
          </a:p>
        </p:txBody>
      </p:sp>
      <p:sp>
        <p:nvSpPr>
          <p:cNvPr id="51" name="!!S5_flowtitle1"/>
          <p:cNvSpPr txBox="1"/>
          <p:nvPr/>
        </p:nvSpPr>
        <p:spPr>
          <a:xfrm>
            <a:off x="4133088" y="-3355848"/>
            <a:ext cx="168249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F5FAFF"/>
                </a:solidFill>
                <a:latin typeface="Aptos"/>
              </a:rPr>
              <a:t>OPI</a:t>
            </a:r>
          </a:p>
        </p:txBody>
      </p:sp>
      <p:sp>
        <p:nvSpPr>
          <p:cNvPr id="52" name="!!S5_flowskill1"/>
          <p:cNvSpPr txBox="1"/>
          <p:nvPr/>
        </p:nvSpPr>
        <p:spPr>
          <a:xfrm>
            <a:off x="3611880" y="-2807209"/>
            <a:ext cx="222199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9A81FF"/>
                </a:solidFill>
                <a:latin typeface="Aptos"/>
              </a:rPr>
              <a:t>Oppimiskyky</a:t>
            </a:r>
          </a:p>
        </p:txBody>
      </p:sp>
      <p:sp>
        <p:nvSpPr>
          <p:cNvPr id="53" name="!!S5_flowdesc1"/>
          <p:cNvSpPr txBox="1"/>
          <p:nvPr/>
        </p:nvSpPr>
        <p:spPr>
          <a:xfrm>
            <a:off x="3602736" y="-2423160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C1D1EC"/>
                </a:solidFill>
                <a:latin typeface="Aptos"/>
              </a:rPr>
              <a:t>Mitä minun pitää ymmärtää?</a:t>
            </a:r>
          </a:p>
        </p:txBody>
      </p:sp>
      <p:cxnSp>
        <p:nvCxnSpPr>
          <p:cNvPr id="54" name="!!S5_link1"/>
          <p:cNvCxnSpPr/>
          <p:nvPr/>
        </p:nvCxnSpPr>
        <p:spPr>
          <a:xfrm>
            <a:off x="5989320" y="-2587752"/>
            <a:ext cx="219456" cy="0"/>
          </a:xfrm>
          <a:prstGeom prst="line">
            <a:avLst/>
          </a:prstGeom>
          <a:ln w="25400">
            <a:solidFill>
              <a:srgbClr val="5D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!!S5_flowcard2"/>
          <p:cNvSpPr/>
          <p:nvPr/>
        </p:nvSpPr>
        <p:spPr>
          <a:xfrm>
            <a:off x="6236208" y="-3511296"/>
            <a:ext cx="2560320" cy="1865376"/>
          </a:xfrm>
          <a:prstGeom prst="roundRect">
            <a:avLst>
              <a:gd name="adj" fmla="val 13000"/>
            </a:avLst>
          </a:prstGeom>
          <a:solidFill>
            <a:srgbClr val="102755">
              <a:alpha val="92000"/>
            </a:srgbClr>
          </a:solidFill>
          <a:ln w="13970">
            <a:solidFill>
              <a:srgbClr val="5DE5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!!S5_floworb2"/>
          <p:cNvSpPr/>
          <p:nvPr/>
        </p:nvSpPr>
        <p:spPr>
          <a:xfrm>
            <a:off x="6409944" y="-3346704"/>
            <a:ext cx="429768" cy="429768"/>
          </a:xfrm>
          <a:prstGeom prst="ellipse">
            <a:avLst/>
          </a:prstGeom>
          <a:solidFill>
            <a:srgbClr val="11315D">
              <a:alpha val="88000"/>
            </a:srgbClr>
          </a:solidFill>
          <a:ln w="20955">
            <a:solidFill>
              <a:srgbClr val="5D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!!S5_flownum2"/>
          <p:cNvSpPr txBox="1"/>
          <p:nvPr/>
        </p:nvSpPr>
        <p:spPr>
          <a:xfrm>
            <a:off x="6437376" y="-3264408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5FAFF"/>
                </a:solidFill>
                <a:latin typeface="Aptos"/>
              </a:rPr>
              <a:t>03</a:t>
            </a:r>
          </a:p>
        </p:txBody>
      </p:sp>
      <p:sp>
        <p:nvSpPr>
          <p:cNvPr id="58" name="!!S5_flowtitle2"/>
          <p:cNvSpPr txBox="1"/>
          <p:nvPr/>
        </p:nvSpPr>
        <p:spPr>
          <a:xfrm>
            <a:off x="6949440" y="-3355848"/>
            <a:ext cx="168249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F5FAFF"/>
                </a:solidFill>
                <a:latin typeface="Aptos"/>
              </a:rPr>
              <a:t>KOKEILE</a:t>
            </a:r>
          </a:p>
        </p:txBody>
      </p:sp>
      <p:sp>
        <p:nvSpPr>
          <p:cNvPr id="59" name="!!S5_flowskill2"/>
          <p:cNvSpPr txBox="1"/>
          <p:nvPr/>
        </p:nvSpPr>
        <p:spPr>
          <a:xfrm>
            <a:off x="6428232" y="-2807209"/>
            <a:ext cx="222199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DE5FF"/>
                </a:solidFill>
                <a:latin typeface="Aptos"/>
              </a:rPr>
              <a:t>Sopeutumiskyky</a:t>
            </a:r>
          </a:p>
        </p:txBody>
      </p:sp>
      <p:sp>
        <p:nvSpPr>
          <p:cNvPr id="60" name="!!S5_flowdesc2"/>
          <p:cNvSpPr txBox="1"/>
          <p:nvPr/>
        </p:nvSpPr>
        <p:spPr>
          <a:xfrm>
            <a:off x="6419088" y="-2423160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C1D1EC"/>
                </a:solidFill>
                <a:latin typeface="Aptos"/>
              </a:rPr>
              <a:t>Mikä toimii käytännössä?</a:t>
            </a:r>
          </a:p>
        </p:txBody>
      </p:sp>
      <p:cxnSp>
        <p:nvCxnSpPr>
          <p:cNvPr id="61" name="!!S5_link2"/>
          <p:cNvCxnSpPr/>
          <p:nvPr/>
        </p:nvCxnSpPr>
        <p:spPr>
          <a:xfrm>
            <a:off x="8805672" y="-2587752"/>
            <a:ext cx="219456" cy="0"/>
          </a:xfrm>
          <a:prstGeom prst="line">
            <a:avLst/>
          </a:prstGeom>
          <a:ln w="25400">
            <a:solidFill>
              <a:srgbClr val="5D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!!S5_flowcard3"/>
          <p:cNvSpPr/>
          <p:nvPr/>
        </p:nvSpPr>
        <p:spPr>
          <a:xfrm>
            <a:off x="9052560" y="-3511296"/>
            <a:ext cx="2560320" cy="1865376"/>
          </a:xfrm>
          <a:prstGeom prst="roundRect">
            <a:avLst>
              <a:gd name="adj" fmla="val 13000"/>
            </a:avLst>
          </a:prstGeom>
          <a:solidFill>
            <a:srgbClr val="102755">
              <a:alpha val="92000"/>
            </a:srgbClr>
          </a:solidFill>
          <a:ln w="13970">
            <a:solidFill>
              <a:srgbClr val="9A81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!!S5_floworb3"/>
          <p:cNvSpPr/>
          <p:nvPr/>
        </p:nvSpPr>
        <p:spPr>
          <a:xfrm>
            <a:off x="9226296" y="-3346704"/>
            <a:ext cx="429768" cy="429768"/>
          </a:xfrm>
          <a:prstGeom prst="ellipse">
            <a:avLst/>
          </a:prstGeom>
          <a:solidFill>
            <a:srgbClr val="11315D">
              <a:alpha val="88000"/>
            </a:srgbClr>
          </a:solidFill>
          <a:ln w="20955">
            <a:solidFill>
              <a:srgbClr val="9A8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!!S5_flownum3"/>
          <p:cNvSpPr txBox="1"/>
          <p:nvPr/>
        </p:nvSpPr>
        <p:spPr>
          <a:xfrm>
            <a:off x="9253728" y="-3264408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5FAFF"/>
                </a:solidFill>
                <a:latin typeface="Aptos"/>
              </a:rPr>
              <a:t>04</a:t>
            </a:r>
          </a:p>
        </p:txBody>
      </p:sp>
      <p:sp>
        <p:nvSpPr>
          <p:cNvPr id="65" name="!!S5_flowtitle3"/>
          <p:cNvSpPr txBox="1"/>
          <p:nvPr/>
        </p:nvSpPr>
        <p:spPr>
          <a:xfrm>
            <a:off x="9765792" y="-3355848"/>
            <a:ext cx="168249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F5FAFF"/>
                </a:solidFill>
                <a:latin typeface="Aptos"/>
              </a:rPr>
              <a:t>JAA</a:t>
            </a:r>
          </a:p>
        </p:txBody>
      </p:sp>
      <p:sp>
        <p:nvSpPr>
          <p:cNvPr id="66" name="!!S5_flowskill3"/>
          <p:cNvSpPr txBox="1"/>
          <p:nvPr/>
        </p:nvSpPr>
        <p:spPr>
          <a:xfrm>
            <a:off x="9244584" y="-2807209"/>
            <a:ext cx="222199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9A81FF"/>
                </a:solidFill>
                <a:latin typeface="Aptos"/>
              </a:rPr>
              <a:t>Vuorovaikutus</a:t>
            </a:r>
          </a:p>
        </p:txBody>
      </p:sp>
      <p:sp>
        <p:nvSpPr>
          <p:cNvPr id="67" name="!!S5_flowdesc3"/>
          <p:cNvSpPr txBox="1"/>
          <p:nvPr/>
        </p:nvSpPr>
        <p:spPr>
          <a:xfrm>
            <a:off x="9235440" y="-2423160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C1D1EC"/>
                </a:solidFill>
                <a:latin typeface="Aptos"/>
              </a:rPr>
              <a:t>Miten autan muita?</a:t>
            </a:r>
          </a:p>
        </p:txBody>
      </p:sp>
      <p:sp>
        <p:nvSpPr>
          <p:cNvPr id="68" name="!!S5_takeaway"/>
          <p:cNvSpPr txBox="1"/>
          <p:nvPr/>
        </p:nvSpPr>
        <p:spPr>
          <a:xfrm>
            <a:off x="649224" y="-1115568"/>
            <a:ext cx="106070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>
                <a:solidFill>
                  <a:srgbClr val="F5FAFF"/>
                </a:solidFill>
                <a:latin typeface="Aptos"/>
              </a:rPr>
              <a:t>Sama muutos. Neljä toisiaan vahvistavaa metataitoa.</a:t>
            </a:r>
          </a:p>
        </p:txBody>
      </p:sp>
      <p:sp>
        <p:nvSpPr>
          <p:cNvPr id="69" name="!!S7_kicker"/>
          <p:cNvSpPr txBox="1"/>
          <p:nvPr/>
        </p:nvSpPr>
        <p:spPr>
          <a:xfrm>
            <a:off x="594360" y="7150608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5DE5FF"/>
                </a:solidFill>
                <a:latin typeface="Aptos"/>
              </a:rPr>
              <a:t>M E T A T A I D O T  /  05</a:t>
            </a:r>
          </a:p>
        </p:txBody>
      </p:sp>
      <p:sp>
        <p:nvSpPr>
          <p:cNvPr id="70" name="!!S7_title"/>
          <p:cNvSpPr txBox="1"/>
          <p:nvPr/>
        </p:nvSpPr>
        <p:spPr>
          <a:xfrm>
            <a:off x="594360" y="7479792"/>
            <a:ext cx="107899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500" b="1">
                <a:solidFill>
                  <a:srgbClr val="F5FAFF"/>
                </a:solidFill>
                <a:latin typeface="Aptos"/>
              </a:rPr>
              <a:t>Metataitoja voi harjoitella</a:t>
            </a:r>
          </a:p>
        </p:txBody>
      </p:sp>
      <p:sp>
        <p:nvSpPr>
          <p:cNvPr id="71" name="!!S7_subtitle"/>
          <p:cNvSpPr txBox="1"/>
          <p:nvPr/>
        </p:nvSpPr>
        <p:spPr>
          <a:xfrm>
            <a:off x="621792" y="8202168"/>
            <a:ext cx="1069848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C1D1EC"/>
                </a:solidFill>
                <a:latin typeface="Aptos"/>
              </a:rPr>
              <a:t>Kasvu syntyy pienistä, toistuvista kokeiluista ja palautteesta.</a:t>
            </a:r>
          </a:p>
        </p:txBody>
      </p:sp>
      <p:cxnSp>
        <p:nvCxnSpPr>
          <p:cNvPr id="72" name="!!S7_divider"/>
          <p:cNvCxnSpPr/>
          <p:nvPr/>
        </p:nvCxnSpPr>
        <p:spPr>
          <a:xfrm>
            <a:off x="612648" y="8750807"/>
            <a:ext cx="10954512" cy="0"/>
          </a:xfrm>
          <a:prstGeom prst="line">
            <a:avLst/>
          </a:prstGeom>
          <a:ln w="12700">
            <a:solidFill>
              <a:srgbClr val="34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!!S7_ringback0"/>
          <p:cNvSpPr/>
          <p:nvPr/>
        </p:nvSpPr>
        <p:spPr>
          <a:xfrm>
            <a:off x="987552" y="9208008"/>
            <a:ext cx="1920240" cy="1920240"/>
          </a:xfrm>
          <a:prstGeom prst="ellipse">
            <a:avLst/>
          </a:prstGeom>
          <a:solidFill>
            <a:srgbClr val="102E62">
              <a:alpha val="90000"/>
            </a:srgbClr>
          </a:solidFill>
          <a:ln w="20955">
            <a:solidFill>
              <a:srgbClr val="5D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!!S7_ringfront0"/>
          <p:cNvSpPr/>
          <p:nvPr/>
        </p:nvSpPr>
        <p:spPr>
          <a:xfrm>
            <a:off x="1088136" y="9308592"/>
            <a:ext cx="1719072" cy="1719072"/>
          </a:xfrm>
          <a:prstGeom prst="ellipse">
            <a:avLst/>
          </a:prstGeom>
          <a:solidFill>
            <a:srgbClr val="0B2250">
              <a:alpha val="95000"/>
            </a:srgbClr>
          </a:solidFill>
          <a:ln w="20955">
            <a:solidFill>
              <a:srgbClr val="4079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!!S7_num0"/>
          <p:cNvSpPr txBox="1"/>
          <p:nvPr/>
        </p:nvSpPr>
        <p:spPr>
          <a:xfrm>
            <a:off x="1271016" y="9628632"/>
            <a:ext cx="13258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5DE5FF"/>
                </a:solidFill>
                <a:latin typeface="Aptos"/>
              </a:rPr>
              <a:t>01</a:t>
            </a:r>
          </a:p>
        </p:txBody>
      </p:sp>
      <p:sp>
        <p:nvSpPr>
          <p:cNvPr id="76" name="!!S7_keyword0"/>
          <p:cNvSpPr txBox="1"/>
          <p:nvPr/>
        </p:nvSpPr>
        <p:spPr>
          <a:xfrm>
            <a:off x="594360" y="11384280"/>
            <a:ext cx="277063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F5FAFF"/>
                </a:solidFill>
                <a:latin typeface="Aptos"/>
              </a:rPr>
              <a:t>PYSÄHDY</a:t>
            </a:r>
          </a:p>
        </p:txBody>
      </p:sp>
      <p:sp>
        <p:nvSpPr>
          <p:cNvPr id="77" name="!!S7_description0"/>
          <p:cNvSpPr txBox="1"/>
          <p:nvPr/>
        </p:nvSpPr>
        <p:spPr>
          <a:xfrm>
            <a:off x="502920" y="11868912"/>
            <a:ext cx="29718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C1D1EC"/>
                </a:solidFill>
                <a:latin typeface="Aptos"/>
              </a:rPr>
              <a:t>Huomaa oma tapasi ajatella ja toimia.</a:t>
            </a:r>
          </a:p>
        </p:txBody>
      </p:sp>
      <p:cxnSp>
        <p:nvCxnSpPr>
          <p:cNvPr id="78" name="!!S7_arrowseg0"/>
          <p:cNvCxnSpPr/>
          <p:nvPr/>
        </p:nvCxnSpPr>
        <p:spPr>
          <a:xfrm>
            <a:off x="3054096" y="10177272"/>
            <a:ext cx="1453896" cy="0"/>
          </a:xfrm>
          <a:prstGeom prst="line">
            <a:avLst/>
          </a:prstGeom>
          <a:ln w="25400">
            <a:solidFill>
              <a:srgbClr val="53C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!!S7_arrowhead0"/>
          <p:cNvSpPr/>
          <p:nvPr/>
        </p:nvSpPr>
        <p:spPr>
          <a:xfrm>
            <a:off x="4425696" y="10067544"/>
            <a:ext cx="237744" cy="228600"/>
          </a:xfrm>
          <a:prstGeom prst="chevron">
            <a:avLst/>
          </a:prstGeom>
          <a:solidFill>
            <a:srgbClr val="53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!!S7_ringback1"/>
          <p:cNvSpPr/>
          <p:nvPr/>
        </p:nvSpPr>
        <p:spPr>
          <a:xfrm>
            <a:off x="4800600" y="9208008"/>
            <a:ext cx="1920240" cy="1920240"/>
          </a:xfrm>
          <a:prstGeom prst="ellipse">
            <a:avLst/>
          </a:prstGeom>
          <a:solidFill>
            <a:srgbClr val="102E62">
              <a:alpha val="90000"/>
            </a:srgbClr>
          </a:solidFill>
          <a:ln w="20955">
            <a:solidFill>
              <a:srgbClr val="9A8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!!S7_ringfront1"/>
          <p:cNvSpPr/>
          <p:nvPr/>
        </p:nvSpPr>
        <p:spPr>
          <a:xfrm>
            <a:off x="4901184" y="9308592"/>
            <a:ext cx="1719072" cy="1719072"/>
          </a:xfrm>
          <a:prstGeom prst="ellipse">
            <a:avLst/>
          </a:prstGeom>
          <a:solidFill>
            <a:srgbClr val="0B2250">
              <a:alpha val="95000"/>
            </a:srgbClr>
          </a:solidFill>
          <a:ln w="20955">
            <a:solidFill>
              <a:srgbClr val="4079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!!S7_num1"/>
          <p:cNvSpPr txBox="1"/>
          <p:nvPr/>
        </p:nvSpPr>
        <p:spPr>
          <a:xfrm>
            <a:off x="5084064" y="9628632"/>
            <a:ext cx="13258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9A81FF"/>
                </a:solidFill>
                <a:latin typeface="Aptos"/>
              </a:rPr>
              <a:t>02</a:t>
            </a:r>
          </a:p>
        </p:txBody>
      </p:sp>
      <p:sp>
        <p:nvSpPr>
          <p:cNvPr id="83" name="!!S7_keyword1"/>
          <p:cNvSpPr txBox="1"/>
          <p:nvPr/>
        </p:nvSpPr>
        <p:spPr>
          <a:xfrm>
            <a:off x="4407408" y="11384280"/>
            <a:ext cx="277063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F5FAFF"/>
                </a:solidFill>
                <a:latin typeface="Aptos"/>
              </a:rPr>
              <a:t>KOKEILE</a:t>
            </a:r>
          </a:p>
        </p:txBody>
      </p:sp>
      <p:sp>
        <p:nvSpPr>
          <p:cNvPr id="84" name="!!S7_description1"/>
          <p:cNvSpPr txBox="1"/>
          <p:nvPr/>
        </p:nvSpPr>
        <p:spPr>
          <a:xfrm>
            <a:off x="4315968" y="11868912"/>
            <a:ext cx="29718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C1D1EC"/>
                </a:solidFill>
                <a:latin typeface="Aptos"/>
              </a:rPr>
              <a:t>Testaa uutta tapaa turvallisesti.</a:t>
            </a:r>
          </a:p>
        </p:txBody>
      </p:sp>
      <p:cxnSp>
        <p:nvCxnSpPr>
          <p:cNvPr id="85" name="!!S7_arrowseg1"/>
          <p:cNvCxnSpPr/>
          <p:nvPr/>
        </p:nvCxnSpPr>
        <p:spPr>
          <a:xfrm>
            <a:off x="6867144" y="10177272"/>
            <a:ext cx="1453896" cy="0"/>
          </a:xfrm>
          <a:prstGeom prst="line">
            <a:avLst/>
          </a:prstGeom>
          <a:ln w="25400">
            <a:solidFill>
              <a:srgbClr val="53C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!!S7_arrowhead1"/>
          <p:cNvSpPr/>
          <p:nvPr/>
        </p:nvSpPr>
        <p:spPr>
          <a:xfrm>
            <a:off x="8238744" y="10067544"/>
            <a:ext cx="237744" cy="228600"/>
          </a:xfrm>
          <a:prstGeom prst="chevron">
            <a:avLst/>
          </a:prstGeom>
          <a:solidFill>
            <a:srgbClr val="53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!!S7_ringback2"/>
          <p:cNvSpPr/>
          <p:nvPr/>
        </p:nvSpPr>
        <p:spPr>
          <a:xfrm>
            <a:off x="8613648" y="9208008"/>
            <a:ext cx="1920240" cy="1920240"/>
          </a:xfrm>
          <a:prstGeom prst="ellipse">
            <a:avLst/>
          </a:prstGeom>
          <a:solidFill>
            <a:srgbClr val="102E62">
              <a:alpha val="90000"/>
            </a:srgbClr>
          </a:solidFill>
          <a:ln w="20955">
            <a:solidFill>
              <a:srgbClr val="5D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!!S7_ringfront2"/>
          <p:cNvSpPr/>
          <p:nvPr/>
        </p:nvSpPr>
        <p:spPr>
          <a:xfrm>
            <a:off x="8714232" y="9308592"/>
            <a:ext cx="1719072" cy="1719072"/>
          </a:xfrm>
          <a:prstGeom prst="ellipse">
            <a:avLst/>
          </a:prstGeom>
          <a:solidFill>
            <a:srgbClr val="0B2250">
              <a:alpha val="95000"/>
            </a:srgbClr>
          </a:solidFill>
          <a:ln w="20955">
            <a:solidFill>
              <a:srgbClr val="4079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!!S7_num2"/>
          <p:cNvSpPr txBox="1"/>
          <p:nvPr/>
        </p:nvSpPr>
        <p:spPr>
          <a:xfrm>
            <a:off x="8897112" y="9628632"/>
            <a:ext cx="13258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5DE5FF"/>
                </a:solidFill>
                <a:latin typeface="Aptos"/>
              </a:rPr>
              <a:t>03</a:t>
            </a:r>
          </a:p>
        </p:txBody>
      </p:sp>
      <p:sp>
        <p:nvSpPr>
          <p:cNvPr id="90" name="!!S7_keyword2"/>
          <p:cNvSpPr txBox="1"/>
          <p:nvPr/>
        </p:nvSpPr>
        <p:spPr>
          <a:xfrm>
            <a:off x="8220456" y="11384280"/>
            <a:ext cx="277063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F5FAFF"/>
                </a:solidFill>
                <a:latin typeface="Aptos"/>
              </a:rPr>
              <a:t>ARVIOI</a:t>
            </a:r>
          </a:p>
        </p:txBody>
      </p:sp>
      <p:sp>
        <p:nvSpPr>
          <p:cNvPr id="91" name="!!S7_description2"/>
          <p:cNvSpPr txBox="1"/>
          <p:nvPr/>
        </p:nvSpPr>
        <p:spPr>
          <a:xfrm>
            <a:off x="8129016" y="11868912"/>
            <a:ext cx="29718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C1D1EC"/>
                </a:solidFill>
                <a:latin typeface="Aptos"/>
              </a:rPr>
              <a:t>Pyydä palautetta ja poimi opit.</a:t>
            </a:r>
          </a:p>
        </p:txBody>
      </p:sp>
      <p:sp>
        <p:nvSpPr>
          <p:cNvPr id="92" name="!!S7_footerbg"/>
          <p:cNvSpPr/>
          <p:nvPr/>
        </p:nvSpPr>
        <p:spPr>
          <a:xfrm>
            <a:off x="594360" y="12975336"/>
            <a:ext cx="10991088" cy="374904"/>
          </a:xfrm>
          <a:prstGeom prst="roundRect">
            <a:avLst>
              <a:gd name="adj" fmla="val 13000"/>
            </a:avLst>
          </a:prstGeom>
          <a:solidFill>
            <a:srgbClr val="1A326A">
              <a:alpha val="58000"/>
            </a:srgbClr>
          </a:solidFill>
          <a:ln w="13970">
            <a:solidFill>
              <a:srgbClr val="2B5083">
                <a:alpha val="4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!!S7_footer"/>
          <p:cNvSpPr txBox="1"/>
          <p:nvPr/>
        </p:nvSpPr>
        <p:spPr>
          <a:xfrm>
            <a:off x="914400" y="13011912"/>
            <a:ext cx="1029614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5FAFF"/>
                </a:solidFill>
                <a:latin typeface="Aptos"/>
              </a:rPr>
              <a:t>Yksi viikko. Yksi kokeilu. Yksi oppi.</a:t>
            </a:r>
          </a:p>
        </p:txBody>
      </p:sp>
      <p:sp>
        <p:nvSpPr>
          <p:cNvPr id="94" name="!!Progress_6"/>
          <p:cNvSpPr txBox="1"/>
          <p:nvPr/>
        </p:nvSpPr>
        <p:spPr>
          <a:xfrm>
            <a:off x="10561320" y="6318504"/>
            <a:ext cx="96926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8197BC"/>
                </a:solidFill>
                <a:latin typeface="Aptos"/>
              </a:rPr>
              <a:t>04  /  06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4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2B2C3-EAB5-F378-4DB9-49C4C7D4E9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98761C-7AA5-F223-F7C5-7E72780465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670BF9-A583-F9D4-B58E-717D479BD4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61772"/>
            <a:ext cx="12192000" cy="9525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7A05619-BDAA-0BF9-DE1C-2F508CC86F81}"/>
              </a:ext>
            </a:extLst>
          </p:cNvPr>
          <p:cNvSpPr/>
          <p:nvPr/>
        </p:nvSpPr>
        <p:spPr>
          <a:xfrm>
            <a:off x="-16042" y="0"/>
            <a:ext cx="12192000" cy="9601200"/>
          </a:xfrm>
          <a:prstGeom prst="rect">
            <a:avLst/>
          </a:prstGeom>
          <a:solidFill>
            <a:srgbClr val="00112E">
              <a:alpha val="82000"/>
            </a:srgb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601994-5DA9-458C-D842-F7E5D8BF9729}"/>
              </a:ext>
            </a:extLst>
          </p:cNvPr>
          <p:cNvSpPr txBox="1"/>
          <p:nvPr/>
        </p:nvSpPr>
        <p:spPr>
          <a:xfrm>
            <a:off x="3837710" y="-6289824"/>
            <a:ext cx="43780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6000" dirty="0">
                <a:solidFill>
                  <a:schemeClr val="bg1"/>
                </a:solidFill>
                <a:latin typeface="Abadi" panose="020B0604020104020204" pitchFamily="34" charset="0"/>
              </a:rPr>
              <a:t>Metataidot</a:t>
            </a:r>
            <a:endParaRPr lang="en-US" sz="60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7D38E0-99D5-8AA6-39B9-3BC120895EE0}"/>
              </a:ext>
            </a:extLst>
          </p:cNvPr>
          <p:cNvSpPr txBox="1"/>
          <p:nvPr/>
        </p:nvSpPr>
        <p:spPr>
          <a:xfrm>
            <a:off x="2981159" y="-5358407"/>
            <a:ext cx="60590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2800" dirty="0">
                <a:solidFill>
                  <a:schemeClr val="bg1"/>
                </a:solidFill>
                <a:latin typeface="Abadi" panose="020B0604020104020204" pitchFamily="34" charset="0"/>
              </a:rPr>
              <a:t>työpaikan piilotettu helmi</a:t>
            </a:r>
            <a:endParaRPr lang="en-US" sz="28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421AF6-25FB-FE4E-8022-54DD092AC744}"/>
              </a:ext>
            </a:extLst>
          </p:cNvPr>
          <p:cNvSpPr txBox="1"/>
          <p:nvPr/>
        </p:nvSpPr>
        <p:spPr>
          <a:xfrm>
            <a:off x="581892" y="-4270475"/>
            <a:ext cx="3962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Metataitojen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tarkoitus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on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tukea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aktivoida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ja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tehostaa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muiden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taitojen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käyttöä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sekä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auttaa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ihmistä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sopeutumaan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jatkuvaan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muutokseen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. Ne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eivät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liity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mihinkään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tiettyyn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ammattiin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tai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työn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sisältöön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vaan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ne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ovat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"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taitoja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taitojen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taustalla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" –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eli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taitoja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joiden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avulla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opimme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käsittelemme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tietoa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ja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toimimme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muiden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kanssa</a:t>
            </a:r>
            <a:endParaRPr lang="en-US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137EF0-2881-B99D-315F-C9FAA28C1F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4292" y="-4674254"/>
            <a:ext cx="7333671" cy="43405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C5AA270-D42F-D913-C90D-18F4ABC422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" y="9525000"/>
            <a:ext cx="12185522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FE9D2B4-C2A2-B917-9A4E-4CC942885353}"/>
              </a:ext>
            </a:extLst>
          </p:cNvPr>
          <p:cNvSpPr txBox="1"/>
          <p:nvPr/>
        </p:nvSpPr>
        <p:spPr>
          <a:xfrm>
            <a:off x="5063959" y="8670787"/>
            <a:ext cx="18934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4000" dirty="0">
                <a:solidFill>
                  <a:schemeClr val="bg1"/>
                </a:solidFill>
              </a:rPr>
              <a:t>KIITOS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15" name="!!S7_title"/>
          <p:cNvSpPr txBox="1"/>
          <p:nvPr/>
        </p:nvSpPr>
        <p:spPr>
          <a:xfrm>
            <a:off x="594360" y="621792"/>
            <a:ext cx="107899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500" b="1">
                <a:solidFill>
                  <a:srgbClr val="F5FAFF"/>
                </a:solidFill>
                <a:latin typeface="Aptos"/>
              </a:rPr>
              <a:t>Metataitoja voi harjoitella</a:t>
            </a:r>
          </a:p>
        </p:txBody>
      </p:sp>
      <p:sp>
        <p:nvSpPr>
          <p:cNvPr id="16" name="!!S7_subtitle"/>
          <p:cNvSpPr txBox="1"/>
          <p:nvPr/>
        </p:nvSpPr>
        <p:spPr>
          <a:xfrm>
            <a:off x="621792" y="1344168"/>
            <a:ext cx="1069848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C1D1EC"/>
                </a:solidFill>
                <a:latin typeface="Aptos"/>
              </a:rPr>
              <a:t>Kasvu syntyy pienistä, toistuvista kokeiluista ja palautteesta.</a:t>
            </a:r>
          </a:p>
        </p:txBody>
      </p:sp>
      <p:cxnSp>
        <p:nvCxnSpPr>
          <p:cNvPr id="17" name="!!S7_divider"/>
          <p:cNvCxnSpPr/>
          <p:nvPr/>
        </p:nvCxnSpPr>
        <p:spPr>
          <a:xfrm>
            <a:off x="612648" y="1892807"/>
            <a:ext cx="10954512" cy="0"/>
          </a:xfrm>
          <a:prstGeom prst="line">
            <a:avLst/>
          </a:prstGeom>
          <a:ln w="12700">
            <a:solidFill>
              <a:srgbClr val="34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S7_ringback0"/>
          <p:cNvSpPr/>
          <p:nvPr/>
        </p:nvSpPr>
        <p:spPr>
          <a:xfrm>
            <a:off x="987552" y="2350008"/>
            <a:ext cx="1920240" cy="1920240"/>
          </a:xfrm>
          <a:prstGeom prst="ellipse">
            <a:avLst/>
          </a:prstGeom>
          <a:solidFill>
            <a:srgbClr val="102E62">
              <a:alpha val="90000"/>
            </a:srgbClr>
          </a:solidFill>
          <a:ln w="20955">
            <a:solidFill>
              <a:srgbClr val="5D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!!S7_ringfront0"/>
          <p:cNvSpPr/>
          <p:nvPr/>
        </p:nvSpPr>
        <p:spPr>
          <a:xfrm>
            <a:off x="1088136" y="2450592"/>
            <a:ext cx="1719072" cy="1719072"/>
          </a:xfrm>
          <a:prstGeom prst="ellipse">
            <a:avLst/>
          </a:prstGeom>
          <a:solidFill>
            <a:srgbClr val="0B2250">
              <a:alpha val="95000"/>
            </a:srgbClr>
          </a:solidFill>
          <a:ln w="20955">
            <a:solidFill>
              <a:srgbClr val="4079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!!S7_num0"/>
          <p:cNvSpPr txBox="1"/>
          <p:nvPr/>
        </p:nvSpPr>
        <p:spPr>
          <a:xfrm>
            <a:off x="1271016" y="2770632"/>
            <a:ext cx="13258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5DE5FF"/>
                </a:solidFill>
                <a:latin typeface="Aptos"/>
              </a:rPr>
              <a:t>01</a:t>
            </a:r>
          </a:p>
        </p:txBody>
      </p:sp>
      <p:sp>
        <p:nvSpPr>
          <p:cNvPr id="21" name="!!S7_keyword0"/>
          <p:cNvSpPr txBox="1"/>
          <p:nvPr/>
        </p:nvSpPr>
        <p:spPr>
          <a:xfrm>
            <a:off x="594360" y="4526280"/>
            <a:ext cx="277063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F5FAFF"/>
                </a:solidFill>
                <a:latin typeface="Aptos"/>
              </a:rPr>
              <a:t>PYSÄHDY</a:t>
            </a:r>
          </a:p>
        </p:txBody>
      </p:sp>
      <p:sp>
        <p:nvSpPr>
          <p:cNvPr id="22" name="!!S7_description0"/>
          <p:cNvSpPr txBox="1"/>
          <p:nvPr/>
        </p:nvSpPr>
        <p:spPr>
          <a:xfrm>
            <a:off x="502920" y="5010912"/>
            <a:ext cx="29718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C1D1EC"/>
                </a:solidFill>
                <a:latin typeface="Aptos"/>
              </a:rPr>
              <a:t>Huomaa oma tapasi ajatella ja toimia.</a:t>
            </a:r>
          </a:p>
        </p:txBody>
      </p:sp>
      <p:cxnSp>
        <p:nvCxnSpPr>
          <p:cNvPr id="23" name="!!S7_arrowseg0"/>
          <p:cNvCxnSpPr/>
          <p:nvPr/>
        </p:nvCxnSpPr>
        <p:spPr>
          <a:xfrm>
            <a:off x="3054096" y="3319272"/>
            <a:ext cx="1453896" cy="0"/>
          </a:xfrm>
          <a:prstGeom prst="line">
            <a:avLst/>
          </a:prstGeom>
          <a:ln w="25400">
            <a:solidFill>
              <a:srgbClr val="53C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!!S7_arrowhead0"/>
          <p:cNvSpPr/>
          <p:nvPr/>
        </p:nvSpPr>
        <p:spPr>
          <a:xfrm>
            <a:off x="4425696" y="3209544"/>
            <a:ext cx="237744" cy="228600"/>
          </a:xfrm>
          <a:prstGeom prst="chevron">
            <a:avLst/>
          </a:prstGeom>
          <a:solidFill>
            <a:srgbClr val="53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!!S7_ringback1"/>
          <p:cNvSpPr/>
          <p:nvPr/>
        </p:nvSpPr>
        <p:spPr>
          <a:xfrm>
            <a:off x="4800600" y="2350008"/>
            <a:ext cx="1920240" cy="1920240"/>
          </a:xfrm>
          <a:prstGeom prst="ellipse">
            <a:avLst/>
          </a:prstGeom>
          <a:solidFill>
            <a:srgbClr val="102E62">
              <a:alpha val="90000"/>
            </a:srgbClr>
          </a:solidFill>
          <a:ln w="20955">
            <a:solidFill>
              <a:srgbClr val="9A8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!!S7_ringfront1"/>
          <p:cNvSpPr/>
          <p:nvPr/>
        </p:nvSpPr>
        <p:spPr>
          <a:xfrm>
            <a:off x="4901184" y="2450592"/>
            <a:ext cx="1719072" cy="1719072"/>
          </a:xfrm>
          <a:prstGeom prst="ellipse">
            <a:avLst/>
          </a:prstGeom>
          <a:solidFill>
            <a:srgbClr val="0B2250">
              <a:alpha val="95000"/>
            </a:srgbClr>
          </a:solidFill>
          <a:ln w="20955">
            <a:solidFill>
              <a:srgbClr val="4079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!!S7_num1"/>
          <p:cNvSpPr txBox="1"/>
          <p:nvPr/>
        </p:nvSpPr>
        <p:spPr>
          <a:xfrm>
            <a:off x="5084064" y="2770632"/>
            <a:ext cx="13258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9A81FF"/>
                </a:solidFill>
                <a:latin typeface="Aptos"/>
              </a:rPr>
              <a:t>02</a:t>
            </a:r>
          </a:p>
        </p:txBody>
      </p:sp>
      <p:sp>
        <p:nvSpPr>
          <p:cNvPr id="28" name="!!S7_keyword1"/>
          <p:cNvSpPr txBox="1"/>
          <p:nvPr/>
        </p:nvSpPr>
        <p:spPr>
          <a:xfrm>
            <a:off x="4407408" y="4526280"/>
            <a:ext cx="277063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F5FAFF"/>
                </a:solidFill>
                <a:latin typeface="Aptos"/>
              </a:rPr>
              <a:t>KOKEILE</a:t>
            </a:r>
          </a:p>
        </p:txBody>
      </p:sp>
      <p:sp>
        <p:nvSpPr>
          <p:cNvPr id="29" name="!!S7_description1"/>
          <p:cNvSpPr txBox="1"/>
          <p:nvPr/>
        </p:nvSpPr>
        <p:spPr>
          <a:xfrm>
            <a:off x="4315968" y="5010912"/>
            <a:ext cx="29718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C1D1EC"/>
                </a:solidFill>
                <a:latin typeface="Aptos"/>
              </a:rPr>
              <a:t>Testaa uutta tapaa turvallisesti.</a:t>
            </a:r>
          </a:p>
        </p:txBody>
      </p:sp>
      <p:cxnSp>
        <p:nvCxnSpPr>
          <p:cNvPr id="30" name="!!S7_arrowseg1"/>
          <p:cNvCxnSpPr/>
          <p:nvPr/>
        </p:nvCxnSpPr>
        <p:spPr>
          <a:xfrm>
            <a:off x="6867144" y="3319272"/>
            <a:ext cx="1453896" cy="0"/>
          </a:xfrm>
          <a:prstGeom prst="line">
            <a:avLst/>
          </a:prstGeom>
          <a:ln w="25400">
            <a:solidFill>
              <a:srgbClr val="53C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!!S7_arrowhead1"/>
          <p:cNvSpPr/>
          <p:nvPr/>
        </p:nvSpPr>
        <p:spPr>
          <a:xfrm>
            <a:off x="8238744" y="3209544"/>
            <a:ext cx="237744" cy="228600"/>
          </a:xfrm>
          <a:prstGeom prst="chevron">
            <a:avLst/>
          </a:prstGeom>
          <a:solidFill>
            <a:srgbClr val="53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!!S7_ringback2"/>
          <p:cNvSpPr/>
          <p:nvPr/>
        </p:nvSpPr>
        <p:spPr>
          <a:xfrm>
            <a:off x="8613648" y="2350008"/>
            <a:ext cx="1920240" cy="1920240"/>
          </a:xfrm>
          <a:prstGeom prst="ellipse">
            <a:avLst/>
          </a:prstGeom>
          <a:solidFill>
            <a:srgbClr val="102E62">
              <a:alpha val="90000"/>
            </a:srgbClr>
          </a:solidFill>
          <a:ln w="20955">
            <a:solidFill>
              <a:srgbClr val="5D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!!S7_ringfront2"/>
          <p:cNvSpPr/>
          <p:nvPr/>
        </p:nvSpPr>
        <p:spPr>
          <a:xfrm>
            <a:off x="8714232" y="2450592"/>
            <a:ext cx="1719072" cy="1719072"/>
          </a:xfrm>
          <a:prstGeom prst="ellipse">
            <a:avLst/>
          </a:prstGeom>
          <a:solidFill>
            <a:srgbClr val="0B2250">
              <a:alpha val="95000"/>
            </a:srgbClr>
          </a:solidFill>
          <a:ln w="20955">
            <a:solidFill>
              <a:srgbClr val="4079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!!S7_num2"/>
          <p:cNvSpPr txBox="1"/>
          <p:nvPr/>
        </p:nvSpPr>
        <p:spPr>
          <a:xfrm>
            <a:off x="8897112" y="2770632"/>
            <a:ext cx="13258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5DE5FF"/>
                </a:solidFill>
                <a:latin typeface="Aptos"/>
              </a:rPr>
              <a:t>03</a:t>
            </a:r>
          </a:p>
        </p:txBody>
      </p:sp>
      <p:sp>
        <p:nvSpPr>
          <p:cNvPr id="35" name="!!S7_keyword2"/>
          <p:cNvSpPr txBox="1"/>
          <p:nvPr/>
        </p:nvSpPr>
        <p:spPr>
          <a:xfrm>
            <a:off x="8220456" y="4526280"/>
            <a:ext cx="277063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F5FAFF"/>
                </a:solidFill>
                <a:latin typeface="Aptos"/>
              </a:rPr>
              <a:t>ARVIOI</a:t>
            </a:r>
          </a:p>
        </p:txBody>
      </p:sp>
      <p:sp>
        <p:nvSpPr>
          <p:cNvPr id="36" name="!!S7_description2"/>
          <p:cNvSpPr txBox="1"/>
          <p:nvPr/>
        </p:nvSpPr>
        <p:spPr>
          <a:xfrm>
            <a:off x="8129016" y="5010912"/>
            <a:ext cx="29718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C1D1EC"/>
                </a:solidFill>
                <a:latin typeface="Aptos"/>
              </a:rPr>
              <a:t>Pyydä palautetta ja poimi opit.</a:t>
            </a:r>
          </a:p>
        </p:txBody>
      </p:sp>
      <p:sp>
        <p:nvSpPr>
          <p:cNvPr id="37" name="!!S7_footerbg"/>
          <p:cNvSpPr/>
          <p:nvPr/>
        </p:nvSpPr>
        <p:spPr>
          <a:xfrm>
            <a:off x="594360" y="6117336"/>
            <a:ext cx="10991088" cy="374904"/>
          </a:xfrm>
          <a:prstGeom prst="roundRect">
            <a:avLst>
              <a:gd name="adj" fmla="val 13000"/>
            </a:avLst>
          </a:prstGeom>
          <a:solidFill>
            <a:srgbClr val="1A326A">
              <a:alpha val="58000"/>
            </a:srgbClr>
          </a:solidFill>
          <a:ln w="13970">
            <a:solidFill>
              <a:srgbClr val="2B5083">
                <a:alpha val="4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!!S7_footer"/>
          <p:cNvSpPr txBox="1"/>
          <p:nvPr/>
        </p:nvSpPr>
        <p:spPr>
          <a:xfrm>
            <a:off x="914400" y="6153912"/>
            <a:ext cx="1029614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5FAFF"/>
                </a:solidFill>
                <a:latin typeface="Aptos"/>
              </a:rPr>
              <a:t>Yksi viikko. Yksi kokeilu. Yksi oppi.</a:t>
            </a:r>
          </a:p>
        </p:txBody>
      </p:sp>
      <p:sp>
        <p:nvSpPr>
          <p:cNvPr id="39" name="!!S6_kicker"/>
          <p:cNvSpPr txBox="1"/>
          <p:nvPr/>
        </p:nvSpPr>
        <p:spPr>
          <a:xfrm>
            <a:off x="594360" y="-6565392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5DE5FF"/>
                </a:solidFill>
                <a:latin typeface="Aptos"/>
              </a:rPr>
              <a:t>M E T A T A I D O T  /  04</a:t>
            </a:r>
          </a:p>
        </p:txBody>
      </p:sp>
      <p:sp>
        <p:nvSpPr>
          <p:cNvPr id="40" name="!!S6_title"/>
          <p:cNvSpPr txBox="1"/>
          <p:nvPr/>
        </p:nvSpPr>
        <p:spPr>
          <a:xfrm>
            <a:off x="594360" y="-6236208"/>
            <a:ext cx="107899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500" b="1">
                <a:solidFill>
                  <a:srgbClr val="F5FAFF"/>
                </a:solidFill>
                <a:latin typeface="Aptos"/>
              </a:rPr>
              <a:t>Miten HR tunnistaa metataidot?</a:t>
            </a:r>
          </a:p>
        </p:txBody>
      </p:sp>
      <p:sp>
        <p:nvSpPr>
          <p:cNvPr id="41" name="!!S6_subtitle"/>
          <p:cNvSpPr txBox="1"/>
          <p:nvPr/>
        </p:nvSpPr>
        <p:spPr>
          <a:xfrm>
            <a:off x="621792" y="-5513832"/>
            <a:ext cx="1069848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C1D1EC"/>
                </a:solidFill>
                <a:latin typeface="Aptos"/>
              </a:rPr>
              <a:t>Etsi konkreettista toimintaa pelkkien luonnehdintojen sijaan.</a:t>
            </a:r>
          </a:p>
        </p:txBody>
      </p:sp>
      <p:cxnSp>
        <p:nvCxnSpPr>
          <p:cNvPr id="42" name="!!S6_divider"/>
          <p:cNvCxnSpPr/>
          <p:nvPr/>
        </p:nvCxnSpPr>
        <p:spPr>
          <a:xfrm>
            <a:off x="612648" y="-4965193"/>
            <a:ext cx="10954512" cy="0"/>
          </a:xfrm>
          <a:prstGeom prst="line">
            <a:avLst/>
          </a:prstGeom>
          <a:ln w="12700">
            <a:solidFill>
              <a:srgbClr val="34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!!S6_panel0"/>
          <p:cNvSpPr/>
          <p:nvPr/>
        </p:nvSpPr>
        <p:spPr>
          <a:xfrm>
            <a:off x="603504" y="-4636008"/>
            <a:ext cx="5349240" cy="3145536"/>
          </a:xfrm>
          <a:prstGeom prst="roundRect">
            <a:avLst>
              <a:gd name="adj" fmla="val 13000"/>
            </a:avLst>
          </a:prstGeom>
          <a:solidFill>
            <a:srgbClr val="112A55">
              <a:alpha val="90000"/>
            </a:srgbClr>
          </a:solidFill>
          <a:ln w="13970">
            <a:solidFill>
              <a:srgbClr val="5DE5FF">
                <a:alpha val="7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!!S6_pill0"/>
          <p:cNvSpPr/>
          <p:nvPr/>
        </p:nvSpPr>
        <p:spPr>
          <a:xfrm>
            <a:off x="859536" y="-4416552"/>
            <a:ext cx="2313432" cy="347472"/>
          </a:xfrm>
          <a:prstGeom prst="roundRect">
            <a:avLst>
              <a:gd name="adj" fmla="val 13000"/>
            </a:avLst>
          </a:prstGeom>
          <a:solidFill>
            <a:srgbClr val="5DE5FF">
              <a:alpha val="20000"/>
            </a:srgbClr>
          </a:solidFill>
          <a:ln w="13970">
            <a:solidFill>
              <a:srgbClr val="5DE5FF">
                <a:alpha val="9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!!S6_paneltitle0"/>
          <p:cNvSpPr txBox="1"/>
          <p:nvPr/>
        </p:nvSpPr>
        <p:spPr>
          <a:xfrm>
            <a:off x="969264" y="-4370832"/>
            <a:ext cx="448056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5FAFF"/>
                </a:solidFill>
                <a:latin typeface="Aptos"/>
              </a:rPr>
              <a:t>REKRYTOINNISSA</a:t>
            </a:r>
          </a:p>
        </p:txBody>
      </p:sp>
      <p:sp>
        <p:nvSpPr>
          <p:cNvPr id="46" name="!!S6_label0"/>
          <p:cNvSpPr txBox="1"/>
          <p:nvPr/>
        </p:nvSpPr>
        <p:spPr>
          <a:xfrm>
            <a:off x="877824" y="-3895344"/>
            <a:ext cx="470001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C1D1EC"/>
                </a:solidFill>
                <a:latin typeface="Aptos"/>
              </a:rPr>
              <a:t>Käyttäytymistä kuvaava kysymys</a:t>
            </a:r>
          </a:p>
        </p:txBody>
      </p:sp>
      <p:sp>
        <p:nvSpPr>
          <p:cNvPr id="47" name="!!S6_quote0"/>
          <p:cNvSpPr txBox="1"/>
          <p:nvPr/>
        </p:nvSpPr>
        <p:spPr>
          <a:xfrm>
            <a:off x="868680" y="-3502152"/>
            <a:ext cx="4681728" cy="10607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5FAFF"/>
                </a:solidFill>
                <a:latin typeface="Aptos"/>
              </a:rPr>
              <a:t>“Kerro tilanteesta, jossa jouduit oppimaan jotain nopeasti.”</a:t>
            </a:r>
          </a:p>
        </p:txBody>
      </p:sp>
      <p:cxnSp>
        <p:nvCxnSpPr>
          <p:cNvPr id="48" name="!!S6_panelrule0"/>
          <p:cNvCxnSpPr/>
          <p:nvPr/>
        </p:nvCxnSpPr>
        <p:spPr>
          <a:xfrm>
            <a:off x="868680" y="-2249424"/>
            <a:ext cx="4782312" cy="0"/>
          </a:xfrm>
          <a:prstGeom prst="line">
            <a:avLst/>
          </a:prstGeom>
          <a:ln w="12700">
            <a:solidFill>
              <a:srgbClr val="5D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!!S6_flow0"/>
          <p:cNvSpPr txBox="1"/>
          <p:nvPr/>
        </p:nvSpPr>
        <p:spPr>
          <a:xfrm>
            <a:off x="877824" y="-2112264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5DE5FF"/>
                </a:solidFill>
                <a:latin typeface="Aptos"/>
              </a:rPr>
              <a:t>TILANNE   →   TOIMINTA   →   OPPI</a:t>
            </a:r>
          </a:p>
        </p:txBody>
      </p:sp>
      <p:sp>
        <p:nvSpPr>
          <p:cNvPr id="50" name="!!S6_panel1"/>
          <p:cNvSpPr/>
          <p:nvPr/>
        </p:nvSpPr>
        <p:spPr>
          <a:xfrm>
            <a:off x="6236208" y="-4636008"/>
            <a:ext cx="5349240" cy="3145536"/>
          </a:xfrm>
          <a:prstGeom prst="roundRect">
            <a:avLst>
              <a:gd name="adj" fmla="val 13000"/>
            </a:avLst>
          </a:prstGeom>
          <a:solidFill>
            <a:srgbClr val="112A55">
              <a:alpha val="90000"/>
            </a:srgbClr>
          </a:solidFill>
          <a:ln w="13970">
            <a:solidFill>
              <a:srgbClr val="9A81FF">
                <a:alpha val="7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!!S6_pill1"/>
          <p:cNvSpPr/>
          <p:nvPr/>
        </p:nvSpPr>
        <p:spPr>
          <a:xfrm>
            <a:off x="6492240" y="-4416552"/>
            <a:ext cx="2313432" cy="347472"/>
          </a:xfrm>
          <a:prstGeom prst="roundRect">
            <a:avLst>
              <a:gd name="adj" fmla="val 13000"/>
            </a:avLst>
          </a:prstGeom>
          <a:solidFill>
            <a:srgbClr val="9A81FF">
              <a:alpha val="20000"/>
            </a:srgbClr>
          </a:solidFill>
          <a:ln w="13970">
            <a:solidFill>
              <a:srgbClr val="9A81FF">
                <a:alpha val="9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!!S6_paneltitle1"/>
          <p:cNvSpPr txBox="1"/>
          <p:nvPr/>
        </p:nvSpPr>
        <p:spPr>
          <a:xfrm>
            <a:off x="6601968" y="-4370832"/>
            <a:ext cx="448056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5FAFF"/>
                </a:solidFill>
                <a:latin typeface="Aptos"/>
              </a:rPr>
              <a:t>KEHITTÄMISESSÄ</a:t>
            </a:r>
          </a:p>
        </p:txBody>
      </p:sp>
      <p:sp>
        <p:nvSpPr>
          <p:cNvPr id="53" name="!!S6_label1"/>
          <p:cNvSpPr txBox="1"/>
          <p:nvPr/>
        </p:nvSpPr>
        <p:spPr>
          <a:xfrm>
            <a:off x="6510528" y="-3895344"/>
            <a:ext cx="470001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C1D1EC"/>
                </a:solidFill>
                <a:latin typeface="Aptos"/>
              </a:rPr>
              <a:t>Oppimista tukeva keskustelu</a:t>
            </a:r>
          </a:p>
        </p:txBody>
      </p:sp>
      <p:sp>
        <p:nvSpPr>
          <p:cNvPr id="54" name="!!S6_quote1"/>
          <p:cNvSpPr txBox="1"/>
          <p:nvPr/>
        </p:nvSpPr>
        <p:spPr>
          <a:xfrm>
            <a:off x="6501384" y="-3502152"/>
            <a:ext cx="4681728" cy="10607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F5FAFF"/>
                </a:solidFill>
                <a:latin typeface="Aptos"/>
              </a:rPr>
              <a:t>“Mitä kokeilit? Mitä opit? Mitä teet seuraavaksi?”</a:t>
            </a:r>
          </a:p>
        </p:txBody>
      </p:sp>
      <p:cxnSp>
        <p:nvCxnSpPr>
          <p:cNvPr id="55" name="!!S6_panelrule1"/>
          <p:cNvCxnSpPr/>
          <p:nvPr/>
        </p:nvCxnSpPr>
        <p:spPr>
          <a:xfrm>
            <a:off x="6501384" y="-2249424"/>
            <a:ext cx="4782312" cy="0"/>
          </a:xfrm>
          <a:prstGeom prst="line">
            <a:avLst/>
          </a:prstGeom>
          <a:ln w="12700">
            <a:solidFill>
              <a:srgbClr val="9A8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!!S6_flow1"/>
          <p:cNvSpPr txBox="1"/>
          <p:nvPr/>
        </p:nvSpPr>
        <p:spPr>
          <a:xfrm>
            <a:off x="6510528" y="-2112264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9A81FF"/>
                </a:solidFill>
                <a:latin typeface="Aptos"/>
              </a:rPr>
              <a:t>PALAUTE   →   KOKEILU   →   REFLEKTIO</a:t>
            </a:r>
          </a:p>
        </p:txBody>
      </p:sp>
      <p:sp>
        <p:nvSpPr>
          <p:cNvPr id="57" name="!!S6_footer_dot"/>
          <p:cNvSpPr/>
          <p:nvPr/>
        </p:nvSpPr>
        <p:spPr>
          <a:xfrm>
            <a:off x="667512" y="-941832"/>
            <a:ext cx="100584" cy="100584"/>
          </a:xfrm>
          <a:prstGeom prst="ellipse">
            <a:avLst/>
          </a:prstGeom>
          <a:solidFill>
            <a:srgbClr val="5CD8FF">
              <a:alpha val="88000"/>
            </a:srgbClr>
          </a:solidFill>
          <a:ln w="20955">
            <a:solidFill>
              <a:srgbClr val="5D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!!S6_footer"/>
          <p:cNvSpPr txBox="1"/>
          <p:nvPr/>
        </p:nvSpPr>
        <p:spPr>
          <a:xfrm>
            <a:off x="896112" y="-1097280"/>
            <a:ext cx="1065276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F5FAFF"/>
                </a:solidFill>
                <a:latin typeface="Aptos"/>
              </a:rPr>
              <a:t>Esimerkit auttavat arvioimaan taitoja — yksittäinen vastaus ei kerro kaikkea.</a:t>
            </a:r>
          </a:p>
        </p:txBody>
      </p:sp>
      <p:sp>
        <p:nvSpPr>
          <p:cNvPr id="59" name="!!Closing_subtitle"/>
          <p:cNvSpPr txBox="1"/>
          <p:nvPr/>
        </p:nvSpPr>
        <p:spPr>
          <a:xfrm>
            <a:off x="2788920" y="10808208"/>
            <a:ext cx="6766560" cy="4663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C1D1EC"/>
                </a:solidFill>
                <a:latin typeface="Aptos"/>
              </a:rPr>
              <a:t>Mitä metataitoa kehittäisit seuraavaksi?</a:t>
            </a:r>
          </a:p>
        </p:txBody>
      </p:sp>
      <p:sp>
        <p:nvSpPr>
          <p:cNvPr id="60" name="!!Progress_7"/>
          <p:cNvSpPr txBox="1"/>
          <p:nvPr/>
        </p:nvSpPr>
        <p:spPr>
          <a:xfrm>
            <a:off x="10561320" y="6318504"/>
            <a:ext cx="96926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8197BC"/>
                </a:solidFill>
                <a:latin typeface="Aptos"/>
              </a:rPr>
              <a:t>05  /  06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4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4000">
              <a:srgbClr val="002060"/>
            </a:gs>
            <a:gs pos="74000">
              <a:srgbClr val="002060"/>
            </a:gs>
            <a:gs pos="83000">
              <a:srgbClr val="002060"/>
            </a:gs>
            <a:gs pos="100000">
              <a:srgbClr val="002060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CD4774-7637-34E2-7B38-05BF3115D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A10C1-0DC7-81C8-3B98-A5C9CB3629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3F8E56-C1D3-3EC5-01C8-85D20CF9BC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13848C-3E1C-D7BC-9B0D-8482727651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2448" y="-566928"/>
            <a:ext cx="12192000" cy="9525000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4" name="Rectangle 7"/>
          <p:cNvSpPr/>
          <p:nvPr/>
        </p:nvSpPr>
        <p:spPr>
          <a:xfrm>
            <a:off x="-13716" y="0"/>
            <a:ext cx="12234672" cy="6903720"/>
          </a:xfrm>
          <a:prstGeom prst="rect">
            <a:avLst/>
          </a:prstGeom>
          <a:solidFill>
            <a:srgbClr val="00112E">
              <a:alpha val="8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2627BE-723D-BB88-F9CB-4D04BCE2750F}"/>
              </a:ext>
            </a:extLst>
          </p:cNvPr>
          <p:cNvSpPr txBox="1"/>
          <p:nvPr/>
        </p:nvSpPr>
        <p:spPr>
          <a:xfrm>
            <a:off x="3906982" y="-5313967"/>
            <a:ext cx="43780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6000" dirty="0">
                <a:solidFill>
                  <a:schemeClr val="bg1"/>
                </a:solidFill>
                <a:latin typeface="Abadi" panose="020B0604020104020204" pitchFamily="34" charset="0"/>
              </a:rPr>
              <a:t>Metataidot</a:t>
            </a:r>
            <a:endParaRPr lang="en-US" sz="60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B641D9-CF38-CAE9-B477-4EE098B0A4B7}"/>
              </a:ext>
            </a:extLst>
          </p:cNvPr>
          <p:cNvSpPr txBox="1"/>
          <p:nvPr/>
        </p:nvSpPr>
        <p:spPr>
          <a:xfrm>
            <a:off x="3050431" y="-4382550"/>
            <a:ext cx="60590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2800" dirty="0">
                <a:solidFill>
                  <a:schemeClr val="bg1"/>
                </a:solidFill>
                <a:latin typeface="Abadi" panose="020B0604020104020204" pitchFamily="34" charset="0"/>
              </a:rPr>
              <a:t>työpaikan piilotettu helmi</a:t>
            </a:r>
            <a:endParaRPr lang="en-US" sz="28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90A577-B0B0-7C7A-0722-1E57817EBD49}"/>
              </a:ext>
            </a:extLst>
          </p:cNvPr>
          <p:cNvSpPr txBox="1"/>
          <p:nvPr/>
        </p:nvSpPr>
        <p:spPr>
          <a:xfrm>
            <a:off x="655782" y="-4011873"/>
            <a:ext cx="3962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Metataitojen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tarkoitus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on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tukea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aktivoida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ja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tehostaa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muiden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taitojen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käyttöä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sekä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auttaa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ihmistä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sopeutumaan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jatkuvaan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muutokseen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. Ne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eivät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liity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mihinkään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tiettyyn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ammattiin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tai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työn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sisältöön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vaan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ne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ovat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"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taitoja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taitojen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taustalla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" –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eli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taitoja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joiden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avulla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opimme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käsittelemme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tietoa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ja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toimimme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muiden</a:t>
            </a:r>
            <a:r>
              <a:rPr lang="en-US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B0604020104020204" pitchFamily="34" charset="0"/>
              </a:rPr>
              <a:t>kanssa</a:t>
            </a:r>
            <a:endParaRPr lang="en-US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99AED7-3935-1B96-E444-042178C8CF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2782" y="-5714971"/>
            <a:ext cx="7333671" cy="434054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52BC19A-4ABF-4E11-1723-9BE2CBB04CC6}"/>
              </a:ext>
            </a:extLst>
          </p:cNvPr>
          <p:cNvSpPr txBox="1"/>
          <p:nvPr/>
        </p:nvSpPr>
        <p:spPr>
          <a:xfrm>
            <a:off x="4014215" y="2642616"/>
            <a:ext cx="4151376" cy="905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6000" b="1" dirty="0">
                <a:solidFill>
                  <a:srgbClr val="F5FAFF"/>
                </a:solidFill>
                <a:latin typeface="Aptos Display"/>
              </a:rPr>
              <a:t>KIITOS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15" name="!!S7_kicker"/>
          <p:cNvSpPr txBox="1"/>
          <p:nvPr/>
        </p:nvSpPr>
        <p:spPr>
          <a:xfrm>
            <a:off x="594360" y="-6565392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5DE5FF"/>
                </a:solidFill>
                <a:latin typeface="Aptos"/>
              </a:rPr>
              <a:t>M E T A T A I D O T  /  05</a:t>
            </a:r>
          </a:p>
        </p:txBody>
      </p:sp>
      <p:sp>
        <p:nvSpPr>
          <p:cNvPr id="16" name="!!S7_title"/>
          <p:cNvSpPr txBox="1"/>
          <p:nvPr/>
        </p:nvSpPr>
        <p:spPr>
          <a:xfrm>
            <a:off x="594360" y="-6236208"/>
            <a:ext cx="107899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500" b="1">
                <a:solidFill>
                  <a:srgbClr val="F5FAFF"/>
                </a:solidFill>
                <a:latin typeface="Aptos"/>
              </a:rPr>
              <a:t>Metataitoja voi harjoitella</a:t>
            </a:r>
          </a:p>
        </p:txBody>
      </p:sp>
      <p:sp>
        <p:nvSpPr>
          <p:cNvPr id="17" name="!!S7_subtitle"/>
          <p:cNvSpPr txBox="1"/>
          <p:nvPr/>
        </p:nvSpPr>
        <p:spPr>
          <a:xfrm>
            <a:off x="621792" y="-5513832"/>
            <a:ext cx="1069848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C1D1EC"/>
                </a:solidFill>
                <a:latin typeface="Aptos"/>
              </a:rPr>
              <a:t>Kasvu syntyy pienistä, toistuvista kokeiluista ja palautteesta.</a:t>
            </a:r>
          </a:p>
        </p:txBody>
      </p:sp>
      <p:cxnSp>
        <p:nvCxnSpPr>
          <p:cNvPr id="18" name="!!S7_divider"/>
          <p:cNvCxnSpPr/>
          <p:nvPr/>
        </p:nvCxnSpPr>
        <p:spPr>
          <a:xfrm>
            <a:off x="612648" y="-4965193"/>
            <a:ext cx="10954512" cy="0"/>
          </a:xfrm>
          <a:prstGeom prst="line">
            <a:avLst/>
          </a:prstGeom>
          <a:ln w="12700">
            <a:solidFill>
              <a:srgbClr val="34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!!S7_ringback0"/>
          <p:cNvSpPr/>
          <p:nvPr/>
        </p:nvSpPr>
        <p:spPr>
          <a:xfrm>
            <a:off x="987552" y="-4507992"/>
            <a:ext cx="1920240" cy="1920240"/>
          </a:xfrm>
          <a:prstGeom prst="ellipse">
            <a:avLst/>
          </a:prstGeom>
          <a:solidFill>
            <a:srgbClr val="102E62">
              <a:alpha val="90000"/>
            </a:srgbClr>
          </a:solidFill>
          <a:ln w="20955">
            <a:solidFill>
              <a:srgbClr val="5D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!!S7_ringfront0"/>
          <p:cNvSpPr/>
          <p:nvPr/>
        </p:nvSpPr>
        <p:spPr>
          <a:xfrm>
            <a:off x="1088136" y="-4407408"/>
            <a:ext cx="1719072" cy="1719072"/>
          </a:xfrm>
          <a:prstGeom prst="ellipse">
            <a:avLst/>
          </a:prstGeom>
          <a:solidFill>
            <a:srgbClr val="0B2250">
              <a:alpha val="95000"/>
            </a:srgbClr>
          </a:solidFill>
          <a:ln w="20955">
            <a:solidFill>
              <a:srgbClr val="4079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!!S7_num0"/>
          <p:cNvSpPr txBox="1"/>
          <p:nvPr/>
        </p:nvSpPr>
        <p:spPr>
          <a:xfrm>
            <a:off x="1271016" y="-4087368"/>
            <a:ext cx="13258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5DE5FF"/>
                </a:solidFill>
                <a:latin typeface="Aptos"/>
              </a:rPr>
              <a:t>01</a:t>
            </a:r>
          </a:p>
        </p:txBody>
      </p:sp>
      <p:sp>
        <p:nvSpPr>
          <p:cNvPr id="22" name="!!S7_keyword0"/>
          <p:cNvSpPr txBox="1"/>
          <p:nvPr/>
        </p:nvSpPr>
        <p:spPr>
          <a:xfrm>
            <a:off x="594360" y="-2331720"/>
            <a:ext cx="277063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F5FAFF"/>
                </a:solidFill>
                <a:latin typeface="Aptos"/>
              </a:rPr>
              <a:t>PYSÄHDY</a:t>
            </a:r>
          </a:p>
        </p:txBody>
      </p:sp>
      <p:sp>
        <p:nvSpPr>
          <p:cNvPr id="23" name="!!S7_description0"/>
          <p:cNvSpPr txBox="1"/>
          <p:nvPr/>
        </p:nvSpPr>
        <p:spPr>
          <a:xfrm>
            <a:off x="502920" y="-1847088"/>
            <a:ext cx="29718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C1D1EC"/>
                </a:solidFill>
                <a:latin typeface="Aptos"/>
              </a:rPr>
              <a:t>Huomaa oma tapasi ajatella ja toimia.</a:t>
            </a:r>
          </a:p>
        </p:txBody>
      </p:sp>
      <p:cxnSp>
        <p:nvCxnSpPr>
          <p:cNvPr id="24" name="!!S7_arrowseg0"/>
          <p:cNvCxnSpPr/>
          <p:nvPr/>
        </p:nvCxnSpPr>
        <p:spPr>
          <a:xfrm>
            <a:off x="3054096" y="-3538728"/>
            <a:ext cx="1453896" cy="0"/>
          </a:xfrm>
          <a:prstGeom prst="line">
            <a:avLst/>
          </a:prstGeom>
          <a:ln w="25400">
            <a:solidFill>
              <a:srgbClr val="53C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!!S7_arrowhead0"/>
          <p:cNvSpPr/>
          <p:nvPr/>
        </p:nvSpPr>
        <p:spPr>
          <a:xfrm>
            <a:off x="4425696" y="-3648456"/>
            <a:ext cx="237744" cy="228600"/>
          </a:xfrm>
          <a:prstGeom prst="chevron">
            <a:avLst/>
          </a:prstGeom>
          <a:solidFill>
            <a:srgbClr val="53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!!S7_ringback1"/>
          <p:cNvSpPr/>
          <p:nvPr/>
        </p:nvSpPr>
        <p:spPr>
          <a:xfrm>
            <a:off x="4800600" y="-4507992"/>
            <a:ext cx="1920240" cy="1920240"/>
          </a:xfrm>
          <a:prstGeom prst="ellipse">
            <a:avLst/>
          </a:prstGeom>
          <a:solidFill>
            <a:srgbClr val="102E62">
              <a:alpha val="90000"/>
            </a:srgbClr>
          </a:solidFill>
          <a:ln w="20955">
            <a:solidFill>
              <a:srgbClr val="9A8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!!S7_ringfront1"/>
          <p:cNvSpPr/>
          <p:nvPr/>
        </p:nvSpPr>
        <p:spPr>
          <a:xfrm>
            <a:off x="4901184" y="-4407408"/>
            <a:ext cx="1719072" cy="1719072"/>
          </a:xfrm>
          <a:prstGeom prst="ellipse">
            <a:avLst/>
          </a:prstGeom>
          <a:solidFill>
            <a:srgbClr val="0B2250">
              <a:alpha val="95000"/>
            </a:srgbClr>
          </a:solidFill>
          <a:ln w="20955">
            <a:solidFill>
              <a:srgbClr val="4079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!!S7_num1"/>
          <p:cNvSpPr txBox="1"/>
          <p:nvPr/>
        </p:nvSpPr>
        <p:spPr>
          <a:xfrm>
            <a:off x="5084064" y="-4087368"/>
            <a:ext cx="13258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9A81FF"/>
                </a:solidFill>
                <a:latin typeface="Aptos"/>
              </a:rPr>
              <a:t>02</a:t>
            </a:r>
          </a:p>
        </p:txBody>
      </p:sp>
      <p:sp>
        <p:nvSpPr>
          <p:cNvPr id="29" name="!!S7_keyword1"/>
          <p:cNvSpPr txBox="1"/>
          <p:nvPr/>
        </p:nvSpPr>
        <p:spPr>
          <a:xfrm>
            <a:off x="4407408" y="-2331720"/>
            <a:ext cx="277063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F5FAFF"/>
                </a:solidFill>
                <a:latin typeface="Aptos"/>
              </a:rPr>
              <a:t>KOKEILE</a:t>
            </a:r>
          </a:p>
        </p:txBody>
      </p:sp>
      <p:sp>
        <p:nvSpPr>
          <p:cNvPr id="30" name="!!S7_description1"/>
          <p:cNvSpPr txBox="1"/>
          <p:nvPr/>
        </p:nvSpPr>
        <p:spPr>
          <a:xfrm>
            <a:off x="4315968" y="-1847088"/>
            <a:ext cx="29718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C1D1EC"/>
                </a:solidFill>
                <a:latin typeface="Aptos"/>
              </a:rPr>
              <a:t>Testaa uutta tapaa turvallisesti.</a:t>
            </a:r>
          </a:p>
        </p:txBody>
      </p:sp>
      <p:cxnSp>
        <p:nvCxnSpPr>
          <p:cNvPr id="31" name="!!S7_arrowseg1"/>
          <p:cNvCxnSpPr/>
          <p:nvPr/>
        </p:nvCxnSpPr>
        <p:spPr>
          <a:xfrm>
            <a:off x="6867144" y="-3538728"/>
            <a:ext cx="1453896" cy="0"/>
          </a:xfrm>
          <a:prstGeom prst="line">
            <a:avLst/>
          </a:prstGeom>
          <a:ln w="25400">
            <a:solidFill>
              <a:srgbClr val="53C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!!S7_arrowhead1"/>
          <p:cNvSpPr/>
          <p:nvPr/>
        </p:nvSpPr>
        <p:spPr>
          <a:xfrm>
            <a:off x="8238744" y="-3648456"/>
            <a:ext cx="237744" cy="228600"/>
          </a:xfrm>
          <a:prstGeom prst="chevron">
            <a:avLst/>
          </a:prstGeom>
          <a:solidFill>
            <a:srgbClr val="53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!!S7_ringback2"/>
          <p:cNvSpPr/>
          <p:nvPr/>
        </p:nvSpPr>
        <p:spPr>
          <a:xfrm>
            <a:off x="8613648" y="-4507992"/>
            <a:ext cx="1920240" cy="1920240"/>
          </a:xfrm>
          <a:prstGeom prst="ellipse">
            <a:avLst/>
          </a:prstGeom>
          <a:solidFill>
            <a:srgbClr val="102E62">
              <a:alpha val="90000"/>
            </a:srgbClr>
          </a:solidFill>
          <a:ln w="20955">
            <a:solidFill>
              <a:srgbClr val="5D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!!S7_ringfront2"/>
          <p:cNvSpPr/>
          <p:nvPr/>
        </p:nvSpPr>
        <p:spPr>
          <a:xfrm>
            <a:off x="8714232" y="-4407408"/>
            <a:ext cx="1719072" cy="1719072"/>
          </a:xfrm>
          <a:prstGeom prst="ellipse">
            <a:avLst/>
          </a:prstGeom>
          <a:solidFill>
            <a:srgbClr val="0B2250">
              <a:alpha val="95000"/>
            </a:srgbClr>
          </a:solidFill>
          <a:ln w="20955">
            <a:solidFill>
              <a:srgbClr val="4079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!!S7_num2"/>
          <p:cNvSpPr txBox="1"/>
          <p:nvPr/>
        </p:nvSpPr>
        <p:spPr>
          <a:xfrm>
            <a:off x="8897112" y="-4087368"/>
            <a:ext cx="13258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5DE5FF"/>
                </a:solidFill>
                <a:latin typeface="Aptos"/>
              </a:rPr>
              <a:t>03</a:t>
            </a:r>
          </a:p>
        </p:txBody>
      </p:sp>
      <p:sp>
        <p:nvSpPr>
          <p:cNvPr id="36" name="!!S7_keyword2"/>
          <p:cNvSpPr txBox="1"/>
          <p:nvPr/>
        </p:nvSpPr>
        <p:spPr>
          <a:xfrm>
            <a:off x="8220456" y="-2331720"/>
            <a:ext cx="277063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F5FAFF"/>
                </a:solidFill>
                <a:latin typeface="Aptos"/>
              </a:rPr>
              <a:t>ARVIOI</a:t>
            </a:r>
          </a:p>
        </p:txBody>
      </p:sp>
      <p:sp>
        <p:nvSpPr>
          <p:cNvPr id="37" name="!!S7_description2"/>
          <p:cNvSpPr txBox="1"/>
          <p:nvPr/>
        </p:nvSpPr>
        <p:spPr>
          <a:xfrm>
            <a:off x="8129016" y="-1847088"/>
            <a:ext cx="29718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C1D1EC"/>
                </a:solidFill>
                <a:latin typeface="Aptos"/>
              </a:rPr>
              <a:t>Pyydä palautetta ja poimi opit.</a:t>
            </a:r>
          </a:p>
        </p:txBody>
      </p:sp>
      <p:sp>
        <p:nvSpPr>
          <p:cNvPr id="38" name="!!S7_footerbg"/>
          <p:cNvSpPr/>
          <p:nvPr/>
        </p:nvSpPr>
        <p:spPr>
          <a:xfrm>
            <a:off x="594360" y="-740664"/>
            <a:ext cx="10991088" cy="374904"/>
          </a:xfrm>
          <a:prstGeom prst="roundRect">
            <a:avLst>
              <a:gd name="adj" fmla="val 13000"/>
            </a:avLst>
          </a:prstGeom>
          <a:solidFill>
            <a:srgbClr val="1A326A">
              <a:alpha val="58000"/>
            </a:srgbClr>
          </a:solidFill>
          <a:ln w="13970">
            <a:solidFill>
              <a:srgbClr val="2B5083">
                <a:alpha val="4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!!S7_footer"/>
          <p:cNvSpPr txBox="1"/>
          <p:nvPr/>
        </p:nvSpPr>
        <p:spPr>
          <a:xfrm>
            <a:off x="914400" y="-704088"/>
            <a:ext cx="1029614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5FAFF"/>
                </a:solidFill>
                <a:latin typeface="Aptos"/>
              </a:rPr>
              <a:t>Yksi viikko. Yksi kokeilu. Yksi oppi.</a:t>
            </a:r>
          </a:p>
        </p:txBody>
      </p:sp>
      <p:sp>
        <p:nvSpPr>
          <p:cNvPr id="40" name="!!Closing_subtitle"/>
          <p:cNvSpPr txBox="1"/>
          <p:nvPr/>
        </p:nvSpPr>
        <p:spPr>
          <a:xfrm>
            <a:off x="2788920" y="3950208"/>
            <a:ext cx="6766560" cy="4663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C1D1EC"/>
                </a:solidFill>
                <a:latin typeface="Aptos"/>
              </a:rPr>
              <a:t>Mitä metataitoa kehittäisit seuraavaksi?</a:t>
            </a:r>
          </a:p>
        </p:txBody>
      </p:sp>
    </p:spTree>
    <p:extLst>
      <p:ext uri="{BB962C8B-B14F-4D97-AF65-F5344CB8AC3E}">
        <p14:creationId xmlns:p14="http://schemas.microsoft.com/office/powerpoint/2010/main" val="14524743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4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1210</Words>
  <Application>Microsoft Office PowerPoint</Application>
  <PresentationFormat>Widescreen</PresentationFormat>
  <Paragraphs>213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Abadi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Artem Prilepin</dc:creator>
  <cp:lastModifiedBy>Artem Prilepin</cp:lastModifiedBy>
  <cp:revision>2</cp:revision>
  <dcterms:created xsi:type="dcterms:W3CDTF">2026-10-15T12:34:22Z</dcterms:created>
  <dcterms:modified xsi:type="dcterms:W3CDTF">2026-10-15T13:57:23Z</dcterms:modified>
</cp:coreProperties>
</file>